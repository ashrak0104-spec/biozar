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y="6858000" cx="12192000"/>
  <p:notesSz cx="6858000" cy="9144000"/>
  <p:embeddedFontLst>
    <p:embeddedFont>
      <p:font typeface="DM Sans Medium"/>
      <p:regular r:id="rId18"/>
      <p:bold r:id="rId19"/>
      <p:italic r:id="rId20"/>
      <p:boldItalic r:id="rId21"/>
    </p:embeddedFont>
    <p:embeddedFont>
      <p:font typeface="Merriweather"/>
      <p:regular r:id="rId22"/>
      <p:bold r:id="rId23"/>
      <p:italic r:id="rId24"/>
      <p:boldItalic r:id="rId25"/>
    </p:embeddedFont>
    <p:embeddedFont>
      <p:font typeface="DM Sans"/>
      <p:regular r:id="rId26"/>
      <p:bold r:id="rId27"/>
      <p:italic r:id="rId28"/>
      <p:boldItalic r:id="rId29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0E9B392D-F101-4E80-8B87-CF779FB87435}">
  <a:tblStyle styleId="{0E9B392D-F101-4E80-8B87-CF779FB87435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E8ECF4"/>
          </a:solidFill>
        </a:fill>
      </a:tcStyle>
    </a:wholeTbl>
    <a:band1H>
      <a:tcTxStyle/>
      <a:tcStyle>
        <a:fill>
          <a:solidFill>
            <a:srgbClr val="CFD7E7"/>
          </a:solidFill>
        </a:fill>
      </a:tcStyle>
    </a:band1H>
    <a:band2H>
      <a:tcTxStyle/>
    </a:band2H>
    <a:band1V>
      <a:tcTxStyle/>
      <a:tcStyle>
        <a:fill>
          <a:solidFill>
            <a:srgbClr val="CFD7E7"/>
          </a:solidFill>
        </a:fill>
      </a:tcStyle>
    </a:band1V>
    <a:band2V>
      <a:tcTxStyle/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</a:tcBdr>
        <a:fill>
          <a:solidFill>
            <a:schemeClr val="accent1"/>
          </a:solidFill>
        </a:fill>
      </a:tcStyle>
    </a:lastRow>
    <a:seCell>
      <a:tcTxStyle/>
    </a:seCell>
    <a:swCell>
      <a:tcTxStyle/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</a:tcBdr>
        <a:fill>
          <a:solidFill>
            <a:schemeClr val="accent1"/>
          </a:solidFill>
        </a:fill>
      </a:tcStyle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DMSansMedium-italic.fntdata"/><Relationship Id="rId22" Type="http://schemas.openxmlformats.org/officeDocument/2006/relationships/font" Target="fonts/Merriweather-regular.fntdata"/><Relationship Id="rId21" Type="http://schemas.openxmlformats.org/officeDocument/2006/relationships/font" Target="fonts/DMSansMedium-boldItalic.fntdata"/><Relationship Id="rId24" Type="http://schemas.openxmlformats.org/officeDocument/2006/relationships/font" Target="fonts/Merriweather-italic.fntdata"/><Relationship Id="rId23" Type="http://schemas.openxmlformats.org/officeDocument/2006/relationships/font" Target="fonts/Merriweather-bold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26" Type="http://schemas.openxmlformats.org/officeDocument/2006/relationships/font" Target="fonts/DMSans-regular.fntdata"/><Relationship Id="rId25" Type="http://schemas.openxmlformats.org/officeDocument/2006/relationships/font" Target="fonts/Merriweather-boldItalic.fntdata"/><Relationship Id="rId28" Type="http://schemas.openxmlformats.org/officeDocument/2006/relationships/font" Target="fonts/DMSans-italic.fntdata"/><Relationship Id="rId27" Type="http://schemas.openxmlformats.org/officeDocument/2006/relationships/font" Target="fonts/DMSans-bold.fntdata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29" Type="http://schemas.openxmlformats.org/officeDocument/2006/relationships/font" Target="fonts/DMSans-boldItalic.fntdata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font" Target="fonts/DMSansMedium-bold.fntdata"/><Relationship Id="rId18" Type="http://schemas.openxmlformats.org/officeDocument/2006/relationships/font" Target="fonts/DMSansMedium-regular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" name="Google Shape;90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6" name="Google Shape;106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7" name="Google Shape;117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6" name="Google Shape;136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5" name="Google Shape;145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4" name="Google Shape;164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0" name="Google Shape;180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8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0" name="Google Shape;200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8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0" name="Google Shape;210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7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9" name="Google Shape;219;p1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5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6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6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7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7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7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7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9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9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0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1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2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3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3.png"/><Relationship Id="rId4" Type="http://schemas.openxmlformats.org/officeDocument/2006/relationships/image" Target="../media/image6.png"/><Relationship Id="rId5" Type="http://schemas.openxmlformats.org/officeDocument/2006/relationships/image" Target="../media/image7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3.png"/><Relationship Id="rId4" Type="http://schemas.openxmlformats.org/officeDocument/2006/relationships/image" Target="../media/image13.png"/><Relationship Id="rId5" Type="http://schemas.openxmlformats.org/officeDocument/2006/relationships/image" Target="../media/image5.png"/><Relationship Id="rId6" Type="http://schemas.openxmlformats.org/officeDocument/2006/relationships/image" Target="../media/image11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3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3.png"/><Relationship Id="rId4" Type="http://schemas.openxmlformats.org/officeDocument/2006/relationships/image" Target="../media/image8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9" Type="http://schemas.openxmlformats.org/officeDocument/2006/relationships/image" Target="../media/image2.png"/><Relationship Id="rId5" Type="http://schemas.openxmlformats.org/officeDocument/2006/relationships/image" Target="../media/image17.png"/><Relationship Id="rId6" Type="http://schemas.openxmlformats.org/officeDocument/2006/relationships/image" Target="../media/image15.png"/><Relationship Id="rId7" Type="http://schemas.openxmlformats.org/officeDocument/2006/relationships/image" Target="../media/image16.png"/><Relationship Id="rId8" Type="http://schemas.openxmlformats.org/officeDocument/2006/relationships/image" Target="../media/image1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3.png"/><Relationship Id="rId4" Type="http://schemas.openxmlformats.org/officeDocument/2006/relationships/image" Target="../media/image10.png"/><Relationship Id="rId5" Type="http://schemas.openxmlformats.org/officeDocument/2006/relationships/image" Target="../media/image9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3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3.png"/><Relationship Id="rId4" Type="http://schemas.openxmlformats.org/officeDocument/2006/relationships/image" Target="../media/image14.png"/><Relationship Id="rId5" Type="http://schemas.openxmlformats.org/officeDocument/2006/relationships/image" Target="../media/image18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3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3.png"/><Relationship Id="rId4" Type="http://schemas.openxmlformats.org/officeDocument/2006/relationships/image" Target="../media/image19.png"/><Relationship Id="rId5" Type="http://schemas.openxmlformats.org/officeDocument/2006/relationships/image" Target="../media/image12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4E8D1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84" name="Google Shape;84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13"/>
          <p:cNvSpPr txBox="1"/>
          <p:nvPr/>
        </p:nvSpPr>
        <p:spPr>
          <a:xfrm>
            <a:off x="295275" y="2162175"/>
            <a:ext cx="11601450" cy="10858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6750" u="none" cap="none" strike="noStrike">
                <a:solidFill>
                  <a:srgbClr val="1A3A3A"/>
                </a:solidFill>
                <a:latin typeface="Merriweather"/>
                <a:ea typeface="Merriweather"/>
                <a:cs typeface="Merriweather"/>
                <a:sym typeface="Merriweather"/>
              </a:rPr>
              <a:t>BIOZAR 2026</a:t>
            </a:r>
            <a:endParaRPr/>
          </a:p>
        </p:txBody>
      </p:sp>
      <p:sp>
        <p:nvSpPr>
          <p:cNvPr id="86" name="Google Shape;86;p13"/>
          <p:cNvSpPr txBox="1"/>
          <p:nvPr/>
        </p:nvSpPr>
        <p:spPr>
          <a:xfrm>
            <a:off x="571500" y="3438525"/>
            <a:ext cx="11049000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2400" u="none" cap="none" strike="noStrike">
                <a:solidFill>
                  <a:srgbClr val="2D5A27"/>
                </a:solidFill>
                <a:latin typeface="DM Sans"/>
                <a:ea typeface="DM Sans"/>
                <a:cs typeface="DM Sans"/>
                <a:sym typeface="DM Sans"/>
              </a:rPr>
              <a:t> "Fraîcheur du bazar, le Bio est la star" </a:t>
            </a:r>
            <a:endParaRPr/>
          </a:p>
        </p:txBody>
      </p:sp>
      <p:sp>
        <p:nvSpPr>
          <p:cNvPr id="87" name="Google Shape;87;p13"/>
          <p:cNvSpPr txBox="1"/>
          <p:nvPr/>
        </p:nvSpPr>
        <p:spPr>
          <a:xfrm>
            <a:off x="571500" y="4219575"/>
            <a:ext cx="11049000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4155"/>
                </a:solidFill>
                <a:latin typeface="DM Sans Medium"/>
                <a:ea typeface="DM Sans Medium"/>
                <a:cs typeface="DM Sans Medium"/>
                <a:sym typeface="DM Sans Medium"/>
              </a:rPr>
              <a:t>STRATÉGIE DE PRODUCTION ET MODÈLE ÉCONOMIQUE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4E8D1"/>
        </a:solidFill>
      </p:bgPr>
    </p:bg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92" name="Google Shape;92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93" name="Google Shape;93;p1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81750" y="2000250"/>
            <a:ext cx="5238750" cy="3810000"/>
          </a:xfrm>
          <a:prstGeom prst="rect">
            <a:avLst/>
          </a:prstGeom>
          <a:noFill/>
          <a:ln>
            <a:noFill/>
          </a:ln>
        </p:spPr>
      </p:pic>
      <p:sp>
        <p:nvSpPr>
          <p:cNvPr id="94" name="Google Shape;94;p14"/>
          <p:cNvSpPr txBox="1"/>
          <p:nvPr/>
        </p:nvSpPr>
        <p:spPr>
          <a:xfrm>
            <a:off x="809625" y="571500"/>
            <a:ext cx="11351418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1A3A3A"/>
                </a:solidFill>
                <a:latin typeface="Merriweather"/>
                <a:ea typeface="Merriweather"/>
                <a:cs typeface="Merriweather"/>
                <a:sym typeface="Merriweather"/>
              </a:rPr>
              <a:t>Concept et Identité Visuelle</a:t>
            </a:r>
            <a:endParaRPr/>
          </a:p>
        </p:txBody>
      </p:sp>
      <p:sp>
        <p:nvSpPr>
          <p:cNvPr id="95" name="Google Shape;95;p14"/>
          <p:cNvSpPr/>
          <p:nvPr/>
        </p:nvSpPr>
        <p:spPr>
          <a:xfrm>
            <a:off x="571500" y="571500"/>
            <a:ext cx="76200" cy="571500"/>
          </a:xfrm>
          <a:prstGeom prst="rect">
            <a:avLst/>
          </a:prstGeom>
          <a:solidFill>
            <a:srgbClr val="2D5A2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" name="Google Shape;96;p14"/>
          <p:cNvSpPr txBox="1"/>
          <p:nvPr/>
        </p:nvSpPr>
        <p:spPr>
          <a:xfrm>
            <a:off x="571500" y="2828925"/>
            <a:ext cx="5238750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L'équilibre parfait :</a:t>
            </a:r>
            <a:endParaRPr/>
          </a:p>
        </p:txBody>
      </p:sp>
      <p:pic>
        <p:nvPicPr>
          <p:cNvPr descr="image.png" id="97" name="Google Shape;97;p1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429375" y="2047875"/>
            <a:ext cx="5143500" cy="3714750"/>
          </a:xfrm>
          <a:prstGeom prst="rect">
            <a:avLst/>
          </a:prstGeom>
          <a:noFill/>
          <a:ln>
            <a:noFill/>
          </a:ln>
        </p:spPr>
      </p:pic>
      <p:sp>
        <p:nvSpPr>
          <p:cNvPr id="98" name="Google Shape;98;p14"/>
          <p:cNvSpPr txBox="1"/>
          <p:nvPr/>
        </p:nvSpPr>
        <p:spPr>
          <a:xfrm>
            <a:off x="885825" y="3305175"/>
            <a:ext cx="66675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•</a:t>
            </a:r>
            <a:endParaRPr/>
          </a:p>
        </p:txBody>
      </p:sp>
      <p:sp>
        <p:nvSpPr>
          <p:cNvPr id="99" name="Google Shape;99;p14"/>
          <p:cNvSpPr txBox="1"/>
          <p:nvPr/>
        </p:nvSpPr>
        <p:spPr>
          <a:xfrm>
            <a:off x="952500" y="3305175"/>
            <a:ext cx="4857750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66675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BIO :</a:t>
            </a:r>
            <a:r>
              <a:rPr b="0" i="0" lang="en-US" sz="1500" u="none" cap="none" strike="noStrik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 Rigueur de la production certifiée et ingénierie maraîchère.</a:t>
            </a:r>
            <a:endParaRPr/>
          </a:p>
        </p:txBody>
      </p:sp>
      <p:sp>
        <p:nvSpPr>
          <p:cNvPr id="100" name="Google Shape;100;p14"/>
          <p:cNvSpPr txBox="1"/>
          <p:nvPr/>
        </p:nvSpPr>
        <p:spPr>
          <a:xfrm>
            <a:off x="885825" y="3876675"/>
            <a:ext cx="66675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•</a:t>
            </a:r>
            <a:endParaRPr/>
          </a:p>
        </p:txBody>
      </p:sp>
      <p:sp>
        <p:nvSpPr>
          <p:cNvPr id="101" name="Google Shape;101;p14"/>
          <p:cNvSpPr txBox="1"/>
          <p:nvPr/>
        </p:nvSpPr>
        <p:spPr>
          <a:xfrm>
            <a:off x="952500" y="3876675"/>
            <a:ext cx="4857750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66675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ZAR :</a:t>
            </a:r>
            <a:r>
              <a:rPr b="0" i="0" lang="en-US" sz="1500" u="none" cap="none" strike="noStrik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 Dynamisme du marché local et générosité du panier malgache.</a:t>
            </a:r>
            <a:endParaRPr/>
          </a:p>
        </p:txBody>
      </p:sp>
      <p:sp>
        <p:nvSpPr>
          <p:cNvPr id="102" name="Google Shape;102;p14"/>
          <p:cNvSpPr txBox="1"/>
          <p:nvPr/>
        </p:nvSpPr>
        <p:spPr>
          <a:xfrm>
            <a:off x="885825" y="4448175"/>
            <a:ext cx="66675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•</a:t>
            </a:r>
            <a:endParaRPr/>
          </a:p>
        </p:txBody>
      </p:sp>
      <p:sp>
        <p:nvSpPr>
          <p:cNvPr id="103" name="Google Shape;103;p14"/>
          <p:cNvSpPr txBox="1"/>
          <p:nvPr/>
        </p:nvSpPr>
        <p:spPr>
          <a:xfrm>
            <a:off x="952500" y="4448175"/>
            <a:ext cx="4857750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66675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Palette :</a:t>
            </a:r>
            <a:r>
              <a:rPr b="0" i="0" lang="en-US" sz="1500" u="none" cap="none" strike="noStrik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 Vert profond pour la terre, Crème Kraft pour l'authenticité.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4E8D1"/>
        </a:solidFill>
      </p:bgPr>
    </p:bg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08" name="Google Shape;108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09" name="Google Shape;109;p1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55600" y="2443162"/>
            <a:ext cx="3314700" cy="19716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0" name="Google Shape;110;p1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438501" y="2443162"/>
            <a:ext cx="3314700" cy="19716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1" name="Google Shape;111;p15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121401" y="2443162"/>
            <a:ext cx="3314700" cy="1971675"/>
          </a:xfrm>
          <a:prstGeom prst="rect">
            <a:avLst/>
          </a:prstGeom>
          <a:noFill/>
          <a:ln>
            <a:noFill/>
          </a:ln>
        </p:spPr>
      </p:pic>
      <p:sp>
        <p:nvSpPr>
          <p:cNvPr id="112" name="Google Shape;112;p15"/>
          <p:cNvSpPr txBox="1"/>
          <p:nvPr/>
        </p:nvSpPr>
        <p:spPr>
          <a:xfrm>
            <a:off x="809625" y="571500"/>
            <a:ext cx="11351418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1A3A3A"/>
                </a:solidFill>
                <a:latin typeface="Merriweather"/>
                <a:ea typeface="Merriweather"/>
                <a:cs typeface="Merriweather"/>
                <a:sym typeface="Merriweather"/>
              </a:rPr>
              <a:t>Objectifs de Performance 2026</a:t>
            </a:r>
            <a:endParaRPr/>
          </a:p>
        </p:txBody>
      </p:sp>
      <p:sp>
        <p:nvSpPr>
          <p:cNvPr id="113" name="Google Shape;113;p15"/>
          <p:cNvSpPr/>
          <p:nvPr/>
        </p:nvSpPr>
        <p:spPr>
          <a:xfrm>
            <a:off x="571500" y="571500"/>
            <a:ext cx="76200" cy="571500"/>
          </a:xfrm>
          <a:prstGeom prst="rect">
            <a:avLst/>
          </a:prstGeom>
          <a:solidFill>
            <a:srgbClr val="2D5A2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4" name="Google Shape;114;p15"/>
          <p:cNvSpPr txBox="1"/>
          <p:nvPr/>
        </p:nvSpPr>
        <p:spPr>
          <a:xfrm>
            <a:off x="571500" y="4891087"/>
            <a:ext cx="11049000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1500" u="none" cap="none" strike="noStrik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Un modèle optimisé par l'ingénierie bio pour réduire les coûts d'intrants.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4E8D1"/>
        </a:solidFill>
      </p:bgPr>
    </p:bg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19" name="Google Shape;119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20" name="Google Shape;120;p16"/>
          <p:cNvSpPr txBox="1"/>
          <p:nvPr/>
        </p:nvSpPr>
        <p:spPr>
          <a:xfrm>
            <a:off x="809625" y="571500"/>
            <a:ext cx="11351418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1A3A3A"/>
                </a:solidFill>
                <a:latin typeface="Merriweather"/>
                <a:ea typeface="Merriweather"/>
                <a:cs typeface="Merriweather"/>
                <a:sym typeface="Merriweather"/>
              </a:rPr>
              <a:t>Structure des Coûts Mensuels</a:t>
            </a:r>
            <a:endParaRPr/>
          </a:p>
        </p:txBody>
      </p:sp>
      <p:sp>
        <p:nvSpPr>
          <p:cNvPr id="121" name="Google Shape;121;p16"/>
          <p:cNvSpPr/>
          <p:nvPr/>
        </p:nvSpPr>
        <p:spPr>
          <a:xfrm>
            <a:off x="571500" y="571500"/>
            <a:ext cx="76200" cy="571500"/>
          </a:xfrm>
          <a:prstGeom prst="rect">
            <a:avLst/>
          </a:prstGeom>
          <a:solidFill>
            <a:srgbClr val="2D5A2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2" name="Google Shape;122;p16"/>
          <p:cNvSpPr/>
          <p:nvPr/>
        </p:nvSpPr>
        <p:spPr>
          <a:xfrm>
            <a:off x="571500" y="1966912"/>
            <a:ext cx="11049000" cy="3209925"/>
          </a:xfrm>
          <a:prstGeom prst="roundRect">
            <a:avLst>
              <a:gd fmla="val 0" name="adj"/>
            </a:avLst>
          </a:prstGeom>
          <a:solidFill>
            <a:srgbClr val="FFFFFF"/>
          </a:solidFill>
          <a:ln cap="flat" cmpd="sng" w="9525">
            <a:solidFill>
              <a:srgbClr val="4A7DBA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123" name="Google Shape;123;p16"/>
          <p:cNvGraphicFramePr/>
          <p:nvPr/>
        </p:nvGraphicFramePr>
        <p:xfrm>
          <a:off x="571500" y="1966912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{0E9B392D-F101-4E80-8B87-CF779FB87435}</a:tableStyleId>
              </a:tblPr>
              <a:tblGrid>
                <a:gridCol w="2871350"/>
                <a:gridCol w="5967700"/>
                <a:gridCol w="2209950"/>
              </a:tblGrid>
              <a:tr h="6419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500" u="none" cap="none" strike="noStrike">
                          <a:solidFill>
                            <a:srgbClr val="FFFFFF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Poste de Dépense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A3A3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500" u="none" cap="none" strike="noStrike">
                          <a:solidFill>
                            <a:srgbClr val="FFFFFF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Détails Opérationnels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A3A3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500" u="none" cap="none" strike="noStrike">
                          <a:solidFill>
                            <a:srgbClr val="FFFFFF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Montant (Ar)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A3A3A"/>
                    </a:solidFill>
                  </a:tcPr>
                </a:tc>
              </a:tr>
              <a:tr h="6419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500" u="none" cap="none" strike="noStrike">
                          <a:solidFill>
                            <a:srgbClr val="334155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Main d'œuvre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500" u="none" cap="none" strike="noStrike">
                          <a:solidFill>
                            <a:srgbClr val="334155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Ouvriers agricoles et gardiennage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500" u="none" cap="none" strike="noStrike">
                          <a:solidFill>
                            <a:srgbClr val="334155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800 000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6419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500" u="none" cap="none" strike="noStrike">
                          <a:solidFill>
                            <a:srgbClr val="334155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Logistique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500" u="none" cap="none" strike="noStrike">
                          <a:solidFill>
                            <a:srgbClr val="334155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Livraisons et maintenance véhicule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500" u="none" cap="none" strike="noStrike">
                          <a:solidFill>
                            <a:srgbClr val="334155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300 000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6419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500" u="none" cap="none" strike="noStrike">
                          <a:solidFill>
                            <a:srgbClr val="334155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Amortissement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500" u="none" cap="none" strike="noStrike">
                          <a:solidFill>
                            <a:srgbClr val="334155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Matériel et infrastructures (Serres/Pompes)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500" u="none" cap="none" strike="noStrike">
                          <a:solidFill>
                            <a:srgbClr val="334155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200 000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6419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500" u="none" cap="none" strike="noStrike">
                          <a:solidFill>
                            <a:srgbClr val="334155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Intrants &amp; Énergie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500" u="none" cap="none" strike="noStrike">
                          <a:solidFill>
                            <a:srgbClr val="334155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Semences paysannes et maintenance solaire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500" u="none" cap="none" strike="noStrike">
                          <a:solidFill>
                            <a:srgbClr val="334155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200 000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124" name="Google Shape;124;p16"/>
          <p:cNvSpPr txBox="1"/>
          <p:nvPr/>
        </p:nvSpPr>
        <p:spPr>
          <a:xfrm>
            <a:off x="571500" y="5367337"/>
            <a:ext cx="11049000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TOTAL : 1 500 000 Ar / Mois</a:t>
            </a:r>
            <a:endParaRPr/>
          </a:p>
        </p:txBody>
      </p:sp>
      <p:sp>
        <p:nvSpPr>
          <p:cNvPr id="125" name="Google Shape;125;p16"/>
          <p:cNvSpPr/>
          <p:nvPr/>
        </p:nvSpPr>
        <p:spPr>
          <a:xfrm>
            <a:off x="571500" y="3257550"/>
            <a:ext cx="2871341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6" name="Google Shape;126;p16"/>
          <p:cNvSpPr/>
          <p:nvPr/>
        </p:nvSpPr>
        <p:spPr>
          <a:xfrm>
            <a:off x="3442841" y="3257550"/>
            <a:ext cx="5967710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7" name="Google Shape;127;p16"/>
          <p:cNvSpPr/>
          <p:nvPr/>
        </p:nvSpPr>
        <p:spPr>
          <a:xfrm>
            <a:off x="9410551" y="3257550"/>
            <a:ext cx="2209948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8" name="Google Shape;128;p16"/>
          <p:cNvSpPr/>
          <p:nvPr/>
        </p:nvSpPr>
        <p:spPr>
          <a:xfrm>
            <a:off x="571500" y="3895725"/>
            <a:ext cx="2871341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9" name="Google Shape;129;p16"/>
          <p:cNvSpPr/>
          <p:nvPr/>
        </p:nvSpPr>
        <p:spPr>
          <a:xfrm>
            <a:off x="3442841" y="3895725"/>
            <a:ext cx="5967710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0" name="Google Shape;130;p16"/>
          <p:cNvSpPr/>
          <p:nvPr/>
        </p:nvSpPr>
        <p:spPr>
          <a:xfrm>
            <a:off x="9410551" y="3895725"/>
            <a:ext cx="2209948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1" name="Google Shape;131;p16"/>
          <p:cNvSpPr/>
          <p:nvPr/>
        </p:nvSpPr>
        <p:spPr>
          <a:xfrm>
            <a:off x="571500" y="4533900"/>
            <a:ext cx="2871341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2" name="Google Shape;132;p16"/>
          <p:cNvSpPr/>
          <p:nvPr/>
        </p:nvSpPr>
        <p:spPr>
          <a:xfrm>
            <a:off x="3442841" y="4533900"/>
            <a:ext cx="5967710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3" name="Google Shape;133;p16"/>
          <p:cNvSpPr/>
          <p:nvPr/>
        </p:nvSpPr>
        <p:spPr>
          <a:xfrm>
            <a:off x="9410551" y="4533900"/>
            <a:ext cx="2209948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4E8D1"/>
        </a:solidFill>
      </p:bgPr>
    </p:bg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38" name="Google Shape;138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39" name="Google Shape;139;p1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1524000"/>
            <a:ext cx="11049000" cy="4762500"/>
          </a:xfrm>
          <a:prstGeom prst="rect">
            <a:avLst/>
          </a:prstGeom>
          <a:noFill/>
          <a:ln>
            <a:noFill/>
          </a:ln>
        </p:spPr>
      </p:pic>
      <p:sp>
        <p:nvSpPr>
          <p:cNvPr id="140" name="Google Shape;140;p17"/>
          <p:cNvSpPr txBox="1"/>
          <p:nvPr/>
        </p:nvSpPr>
        <p:spPr>
          <a:xfrm>
            <a:off x="809625" y="571500"/>
            <a:ext cx="11351418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1A3A3A"/>
                </a:solidFill>
                <a:latin typeface="Merriweather"/>
                <a:ea typeface="Merriweather"/>
                <a:cs typeface="Merriweather"/>
                <a:sym typeface="Merriweather"/>
              </a:rPr>
              <a:t>Potentiel de Revenus par Segment</a:t>
            </a:r>
            <a:endParaRPr/>
          </a:p>
        </p:txBody>
      </p:sp>
      <p:sp>
        <p:nvSpPr>
          <p:cNvPr id="141" name="Google Shape;141;p17"/>
          <p:cNvSpPr/>
          <p:nvPr/>
        </p:nvSpPr>
        <p:spPr>
          <a:xfrm>
            <a:off x="571500" y="571500"/>
            <a:ext cx="76200" cy="571500"/>
          </a:xfrm>
          <a:prstGeom prst="rect">
            <a:avLst/>
          </a:prstGeom>
          <a:solidFill>
            <a:srgbClr val="2D5A2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2" name="Google Shape;142;p17"/>
          <p:cNvSpPr txBox="1"/>
          <p:nvPr/>
        </p:nvSpPr>
        <p:spPr>
          <a:xfrm>
            <a:off x="571500" y="5667375"/>
            <a:ext cx="11049000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Bénéfice Net Mensuel :</a:t>
            </a:r>
            <a:r>
              <a:rPr b="0" i="0" lang="en-US" sz="1500" u="none" cap="none" strike="noStrik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 Environ 422 000 Ar (après amortissement).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4E8D1"/>
        </a:solidFill>
      </p:bgPr>
    </p:bg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47" name="Google Shape;147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48" name="Google Shape;148;p1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2595562"/>
            <a:ext cx="3492400" cy="26193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49" name="Google Shape;149;p1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349650" y="2595562"/>
            <a:ext cx="3492549" cy="26193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50" name="Google Shape;150;p18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127950" y="2595562"/>
            <a:ext cx="3492400" cy="2619375"/>
          </a:xfrm>
          <a:prstGeom prst="rect">
            <a:avLst/>
          </a:prstGeom>
          <a:noFill/>
          <a:ln>
            <a:noFill/>
          </a:ln>
        </p:spPr>
      </p:pic>
      <p:sp>
        <p:nvSpPr>
          <p:cNvPr id="151" name="Google Shape;151;p18"/>
          <p:cNvSpPr txBox="1"/>
          <p:nvPr/>
        </p:nvSpPr>
        <p:spPr>
          <a:xfrm>
            <a:off x="809625" y="571500"/>
            <a:ext cx="11351418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1A3A3A"/>
                </a:solidFill>
                <a:latin typeface="Merriweather"/>
                <a:ea typeface="Merriweather"/>
                <a:cs typeface="Merriweather"/>
                <a:sym typeface="Merriweather"/>
              </a:rPr>
              <a:t>Les 3 Piliers de l'Ingénierie Bio</a:t>
            </a:r>
            <a:endParaRPr/>
          </a:p>
        </p:txBody>
      </p:sp>
      <p:sp>
        <p:nvSpPr>
          <p:cNvPr id="152" name="Google Shape;152;p18"/>
          <p:cNvSpPr/>
          <p:nvPr/>
        </p:nvSpPr>
        <p:spPr>
          <a:xfrm>
            <a:off x="571500" y="571500"/>
            <a:ext cx="76200" cy="571500"/>
          </a:xfrm>
          <a:prstGeom prst="rect">
            <a:avLst/>
          </a:prstGeom>
          <a:solidFill>
            <a:srgbClr val="2D5A2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153" name="Google Shape;153;p18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2127200" y="2890837"/>
            <a:ext cx="381000" cy="381000"/>
          </a:xfrm>
          <a:prstGeom prst="rect">
            <a:avLst/>
          </a:prstGeom>
          <a:noFill/>
          <a:ln>
            <a:noFill/>
          </a:ln>
        </p:spPr>
      </p:pic>
      <p:sp>
        <p:nvSpPr>
          <p:cNvPr id="154" name="Google Shape;154;p18"/>
          <p:cNvSpPr txBox="1"/>
          <p:nvPr/>
        </p:nvSpPr>
        <p:spPr>
          <a:xfrm>
            <a:off x="794228" y="3462337"/>
            <a:ext cx="3046943" cy="219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4" u="none" cap="none" strike="noStrike">
                <a:solidFill>
                  <a:srgbClr val="1A3A3A"/>
                </a:solidFill>
                <a:latin typeface="Merriweather"/>
                <a:ea typeface="Merriweather"/>
                <a:cs typeface="Merriweather"/>
                <a:sym typeface="Merriweather"/>
              </a:rPr>
              <a:t>Nutrition (TCO)</a:t>
            </a:r>
            <a:endParaRPr/>
          </a:p>
        </p:txBody>
      </p:sp>
      <p:sp>
        <p:nvSpPr>
          <p:cNvPr id="155" name="Google Shape;155;p18"/>
          <p:cNvSpPr txBox="1"/>
          <p:nvPr/>
        </p:nvSpPr>
        <p:spPr>
          <a:xfrm>
            <a:off x="866775" y="3871912"/>
            <a:ext cx="2901850" cy="8572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Thé de Compost Oxygéné pour une croissance boostée sans chimie.</a:t>
            </a:r>
            <a:endParaRPr/>
          </a:p>
        </p:txBody>
      </p:sp>
      <p:pic>
        <p:nvPicPr>
          <p:cNvPr descr="image.png" id="156" name="Google Shape;156;p18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5905351" y="2890837"/>
            <a:ext cx="381000" cy="381000"/>
          </a:xfrm>
          <a:prstGeom prst="rect">
            <a:avLst/>
          </a:prstGeom>
          <a:noFill/>
          <a:ln>
            <a:noFill/>
          </a:ln>
        </p:spPr>
      </p:pic>
      <p:sp>
        <p:nvSpPr>
          <p:cNvPr id="157" name="Google Shape;157;p18"/>
          <p:cNvSpPr txBox="1"/>
          <p:nvPr/>
        </p:nvSpPr>
        <p:spPr>
          <a:xfrm>
            <a:off x="4572375" y="3462337"/>
            <a:ext cx="3047099" cy="219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4" u="none" cap="none" strike="noStrike">
                <a:solidFill>
                  <a:srgbClr val="1A3A3A"/>
                </a:solidFill>
                <a:latin typeface="Merriweather"/>
                <a:ea typeface="Merriweather"/>
                <a:cs typeface="Merriweather"/>
                <a:sym typeface="Merriweather"/>
              </a:rPr>
              <a:t>Compost Berkeley</a:t>
            </a:r>
            <a:endParaRPr/>
          </a:p>
        </p:txBody>
      </p:sp>
      <p:sp>
        <p:nvSpPr>
          <p:cNvPr id="158" name="Google Shape;158;p18"/>
          <p:cNvSpPr txBox="1"/>
          <p:nvPr/>
        </p:nvSpPr>
        <p:spPr>
          <a:xfrm>
            <a:off x="4644925" y="3871912"/>
            <a:ext cx="2901999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Fertilisant mûr en 18 jours pour une rotation rapide des sols.</a:t>
            </a:r>
            <a:endParaRPr/>
          </a:p>
        </p:txBody>
      </p:sp>
      <p:pic>
        <p:nvPicPr>
          <p:cNvPr descr="image.png" id="159" name="Google Shape;159;p18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9683650" y="2890837"/>
            <a:ext cx="381000" cy="381000"/>
          </a:xfrm>
          <a:prstGeom prst="rect">
            <a:avLst/>
          </a:prstGeom>
          <a:noFill/>
          <a:ln>
            <a:noFill/>
          </a:ln>
        </p:spPr>
      </p:pic>
      <p:sp>
        <p:nvSpPr>
          <p:cNvPr id="160" name="Google Shape;160;p18"/>
          <p:cNvSpPr txBox="1"/>
          <p:nvPr/>
        </p:nvSpPr>
        <p:spPr>
          <a:xfrm>
            <a:off x="8350679" y="3462337"/>
            <a:ext cx="3046943" cy="219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4" u="none" cap="none" strike="noStrike">
                <a:solidFill>
                  <a:srgbClr val="1A3A3A"/>
                </a:solidFill>
                <a:latin typeface="Merriweather"/>
                <a:ea typeface="Merriweather"/>
                <a:cs typeface="Merriweather"/>
                <a:sym typeface="Merriweather"/>
              </a:rPr>
              <a:t>Solaire Solaire</a:t>
            </a:r>
            <a:endParaRPr/>
          </a:p>
        </p:txBody>
      </p:sp>
      <p:sp>
        <p:nvSpPr>
          <p:cNvPr id="161" name="Google Shape;161;p18"/>
          <p:cNvSpPr txBox="1"/>
          <p:nvPr/>
        </p:nvSpPr>
        <p:spPr>
          <a:xfrm>
            <a:off x="8423225" y="3871912"/>
            <a:ext cx="2901850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Pompage passif par gravité pour une irrigation 100% autonome.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4E8D1"/>
        </a:solidFill>
      </p:bgPr>
    </p:bg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66" name="Google Shape;166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67" name="Google Shape;167;p1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2000250"/>
            <a:ext cx="5238750" cy="3810000"/>
          </a:xfrm>
          <a:prstGeom prst="rect">
            <a:avLst/>
          </a:prstGeom>
          <a:noFill/>
          <a:ln>
            <a:noFill/>
          </a:ln>
        </p:spPr>
      </p:pic>
      <p:sp>
        <p:nvSpPr>
          <p:cNvPr id="168" name="Google Shape;168;p19"/>
          <p:cNvSpPr txBox="1"/>
          <p:nvPr/>
        </p:nvSpPr>
        <p:spPr>
          <a:xfrm>
            <a:off x="809625" y="571500"/>
            <a:ext cx="11351418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1A3A3A"/>
                </a:solidFill>
                <a:latin typeface="Merriweather"/>
                <a:ea typeface="Merriweather"/>
                <a:cs typeface="Merriweather"/>
                <a:sym typeface="Merriweather"/>
              </a:rPr>
              <a:t>Indépendance Énergétique</a:t>
            </a:r>
            <a:endParaRPr/>
          </a:p>
        </p:txBody>
      </p:sp>
      <p:sp>
        <p:nvSpPr>
          <p:cNvPr id="169" name="Google Shape;169;p19"/>
          <p:cNvSpPr/>
          <p:nvPr/>
        </p:nvSpPr>
        <p:spPr>
          <a:xfrm>
            <a:off x="571500" y="571500"/>
            <a:ext cx="76200" cy="571500"/>
          </a:xfrm>
          <a:prstGeom prst="rect">
            <a:avLst/>
          </a:prstGeom>
          <a:solidFill>
            <a:srgbClr val="2D5A2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170" name="Google Shape;170;p1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19125" y="2047875"/>
            <a:ext cx="1571625" cy="200025"/>
          </a:xfrm>
          <a:prstGeom prst="rect">
            <a:avLst/>
          </a:prstGeom>
          <a:noFill/>
          <a:ln>
            <a:noFill/>
          </a:ln>
        </p:spPr>
      </p:pic>
      <p:sp>
        <p:nvSpPr>
          <p:cNvPr id="171" name="Google Shape;171;p19"/>
          <p:cNvSpPr txBox="1"/>
          <p:nvPr/>
        </p:nvSpPr>
        <p:spPr>
          <a:xfrm>
            <a:off x="6381750" y="3071812"/>
            <a:ext cx="5500687" cy="219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4" u="none" cap="none" strike="noStrike">
                <a:solidFill>
                  <a:srgbClr val="1A3A3A"/>
                </a:solidFill>
                <a:latin typeface="Merriweather"/>
                <a:ea typeface="Merriweather"/>
                <a:cs typeface="Merriweather"/>
                <a:sym typeface="Merriweather"/>
              </a:rPr>
              <a:t>Système de Pompage Passif</a:t>
            </a:r>
            <a:endParaRPr/>
          </a:p>
        </p:txBody>
      </p:sp>
      <p:sp>
        <p:nvSpPr>
          <p:cNvPr id="172" name="Google Shape;172;p19"/>
          <p:cNvSpPr txBox="1"/>
          <p:nvPr/>
        </p:nvSpPr>
        <p:spPr>
          <a:xfrm>
            <a:off x="6696075" y="3443287"/>
            <a:ext cx="66675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•</a:t>
            </a:r>
            <a:endParaRPr/>
          </a:p>
        </p:txBody>
      </p:sp>
      <p:sp>
        <p:nvSpPr>
          <p:cNvPr id="173" name="Google Shape;173;p19"/>
          <p:cNvSpPr txBox="1"/>
          <p:nvPr/>
        </p:nvSpPr>
        <p:spPr>
          <a:xfrm>
            <a:off x="6762750" y="3443287"/>
            <a:ext cx="4857750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66675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Zéro Carburant :</a:t>
            </a:r>
            <a:r>
              <a:rPr b="0" i="0" lang="en-US" sz="1500" u="none" cap="none" strike="noStrik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 Réduction drastique des charges variables.</a:t>
            </a:r>
            <a:endParaRPr/>
          </a:p>
        </p:txBody>
      </p:sp>
      <p:sp>
        <p:nvSpPr>
          <p:cNvPr id="174" name="Google Shape;174;p19"/>
          <p:cNvSpPr txBox="1"/>
          <p:nvPr/>
        </p:nvSpPr>
        <p:spPr>
          <a:xfrm>
            <a:off x="6696075" y="4014787"/>
            <a:ext cx="66675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•</a:t>
            </a:r>
            <a:endParaRPr/>
          </a:p>
        </p:txBody>
      </p:sp>
      <p:sp>
        <p:nvSpPr>
          <p:cNvPr id="175" name="Google Shape;175;p19"/>
          <p:cNvSpPr txBox="1"/>
          <p:nvPr/>
        </p:nvSpPr>
        <p:spPr>
          <a:xfrm>
            <a:off x="6762750" y="4014787"/>
            <a:ext cx="4857750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66675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Gravité :</a:t>
            </a:r>
            <a:r>
              <a:rPr b="0" i="0" lang="en-US" sz="1500" u="none" cap="none" strike="noStrik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 Distribution homogène via goutte-à-goutte.</a:t>
            </a:r>
            <a:endParaRPr/>
          </a:p>
        </p:txBody>
      </p:sp>
      <p:sp>
        <p:nvSpPr>
          <p:cNvPr id="176" name="Google Shape;176;p19"/>
          <p:cNvSpPr txBox="1"/>
          <p:nvPr/>
        </p:nvSpPr>
        <p:spPr>
          <a:xfrm>
            <a:off x="6696075" y="4300537"/>
            <a:ext cx="66675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•</a:t>
            </a:r>
            <a:endParaRPr/>
          </a:p>
        </p:txBody>
      </p:sp>
      <p:sp>
        <p:nvSpPr>
          <p:cNvPr id="177" name="Google Shape;177;p19"/>
          <p:cNvSpPr txBox="1"/>
          <p:nvPr/>
        </p:nvSpPr>
        <p:spPr>
          <a:xfrm>
            <a:off x="6762750" y="4300537"/>
            <a:ext cx="4857750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66675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Durabilité :</a:t>
            </a:r>
            <a:r>
              <a:rPr b="0" i="0" lang="en-US" sz="1500" u="none" cap="none" strike="noStrik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 Maintenance minimale pour 2026.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4E8D1"/>
        </a:solidFill>
      </p:bgPr>
    </p:bg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82" name="Google Shape;182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83" name="Google Shape;183;p20"/>
          <p:cNvSpPr txBox="1"/>
          <p:nvPr/>
        </p:nvSpPr>
        <p:spPr>
          <a:xfrm>
            <a:off x="809625" y="571500"/>
            <a:ext cx="11351418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1A3A3A"/>
                </a:solidFill>
                <a:latin typeface="Merriweather"/>
                <a:ea typeface="Merriweather"/>
                <a:cs typeface="Merriweather"/>
                <a:sym typeface="Merriweather"/>
              </a:rPr>
              <a:t>Calendrier de Déploiement</a:t>
            </a:r>
            <a:endParaRPr/>
          </a:p>
        </p:txBody>
      </p:sp>
      <p:sp>
        <p:nvSpPr>
          <p:cNvPr id="184" name="Google Shape;184;p20"/>
          <p:cNvSpPr/>
          <p:nvPr/>
        </p:nvSpPr>
        <p:spPr>
          <a:xfrm>
            <a:off x="571500" y="571500"/>
            <a:ext cx="76200" cy="571500"/>
          </a:xfrm>
          <a:prstGeom prst="rect">
            <a:avLst/>
          </a:prstGeom>
          <a:solidFill>
            <a:srgbClr val="2D5A2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5" name="Google Shape;185;p20"/>
          <p:cNvSpPr/>
          <p:nvPr/>
        </p:nvSpPr>
        <p:spPr>
          <a:xfrm>
            <a:off x="571500" y="4362450"/>
            <a:ext cx="11049000" cy="38100"/>
          </a:xfrm>
          <a:prstGeom prst="rect">
            <a:avLst/>
          </a:prstGeom>
          <a:solidFill>
            <a:srgbClr val="2D5A2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6" name="Google Shape;186;p20"/>
          <p:cNvSpPr/>
          <p:nvPr/>
        </p:nvSpPr>
        <p:spPr>
          <a:xfrm>
            <a:off x="1548705" y="3462337"/>
            <a:ext cx="476250" cy="476250"/>
          </a:xfrm>
          <a:prstGeom prst="roundRect">
            <a:avLst>
              <a:gd fmla="val 50000" name="adj"/>
            </a:avLst>
          </a:prstGeom>
          <a:solidFill>
            <a:srgbClr val="1A3A3A"/>
          </a:solidFill>
          <a:ln cap="flat" cmpd="sng" w="47625">
            <a:solidFill>
              <a:srgbClr val="F4E8D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7" name="Google Shape;187;p20"/>
          <p:cNvSpPr txBox="1"/>
          <p:nvPr/>
        </p:nvSpPr>
        <p:spPr>
          <a:xfrm>
            <a:off x="510733" y="4129087"/>
            <a:ext cx="2552193" cy="219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4" u="none" cap="none" strike="noStrike">
                <a:solidFill>
                  <a:srgbClr val="1A3A3A"/>
                </a:solidFill>
                <a:latin typeface="Merriweather"/>
                <a:ea typeface="Merriweather"/>
                <a:cs typeface="Merriweather"/>
                <a:sym typeface="Merriweather"/>
              </a:rPr>
              <a:t>Phase 1</a:t>
            </a:r>
            <a:endParaRPr/>
          </a:p>
        </p:txBody>
      </p:sp>
      <p:sp>
        <p:nvSpPr>
          <p:cNvPr id="188" name="Google Shape;188;p20"/>
          <p:cNvSpPr txBox="1"/>
          <p:nvPr/>
        </p:nvSpPr>
        <p:spPr>
          <a:xfrm>
            <a:off x="571500" y="4538662"/>
            <a:ext cx="2430660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Mise en place Nutrition &amp; Compostage</a:t>
            </a:r>
            <a:endParaRPr/>
          </a:p>
        </p:txBody>
      </p:sp>
      <p:sp>
        <p:nvSpPr>
          <p:cNvPr id="189" name="Google Shape;189;p20"/>
          <p:cNvSpPr/>
          <p:nvPr/>
        </p:nvSpPr>
        <p:spPr>
          <a:xfrm>
            <a:off x="4421385" y="3462337"/>
            <a:ext cx="476250" cy="476250"/>
          </a:xfrm>
          <a:prstGeom prst="roundRect">
            <a:avLst>
              <a:gd fmla="val 50000" name="adj"/>
            </a:avLst>
          </a:prstGeom>
          <a:solidFill>
            <a:srgbClr val="1A3A3A"/>
          </a:solidFill>
          <a:ln cap="flat" cmpd="sng" w="47625">
            <a:solidFill>
              <a:srgbClr val="F4E8D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0" name="Google Shape;190;p20"/>
          <p:cNvSpPr txBox="1"/>
          <p:nvPr/>
        </p:nvSpPr>
        <p:spPr>
          <a:xfrm>
            <a:off x="3383413" y="4129087"/>
            <a:ext cx="2552193" cy="219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4" u="none" cap="none" strike="noStrike">
                <a:solidFill>
                  <a:srgbClr val="1A3A3A"/>
                </a:solidFill>
                <a:latin typeface="Merriweather"/>
                <a:ea typeface="Merriweather"/>
                <a:cs typeface="Merriweather"/>
                <a:sym typeface="Merriweather"/>
              </a:rPr>
              <a:t>Phase 2</a:t>
            </a:r>
            <a:endParaRPr/>
          </a:p>
        </p:txBody>
      </p:sp>
      <p:sp>
        <p:nvSpPr>
          <p:cNvPr id="191" name="Google Shape;191;p20"/>
          <p:cNvSpPr txBox="1"/>
          <p:nvPr/>
        </p:nvSpPr>
        <p:spPr>
          <a:xfrm>
            <a:off x="3444180" y="4538662"/>
            <a:ext cx="2430660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Prospection Hôtellerie Nosy Be</a:t>
            </a:r>
            <a:endParaRPr/>
          </a:p>
        </p:txBody>
      </p:sp>
      <p:sp>
        <p:nvSpPr>
          <p:cNvPr id="192" name="Google Shape;192;p20"/>
          <p:cNvSpPr/>
          <p:nvPr/>
        </p:nvSpPr>
        <p:spPr>
          <a:xfrm>
            <a:off x="7294066" y="3462337"/>
            <a:ext cx="476250" cy="476250"/>
          </a:xfrm>
          <a:prstGeom prst="roundRect">
            <a:avLst>
              <a:gd fmla="val 50000" name="adj"/>
            </a:avLst>
          </a:prstGeom>
          <a:solidFill>
            <a:srgbClr val="1A3A3A"/>
          </a:solidFill>
          <a:ln cap="flat" cmpd="sng" w="47625">
            <a:solidFill>
              <a:srgbClr val="F4E8D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3" name="Google Shape;193;p20"/>
          <p:cNvSpPr txBox="1"/>
          <p:nvPr/>
        </p:nvSpPr>
        <p:spPr>
          <a:xfrm>
            <a:off x="6256094" y="4129087"/>
            <a:ext cx="2552193" cy="219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4" u="none" cap="none" strike="noStrike">
                <a:solidFill>
                  <a:srgbClr val="1A3A3A"/>
                </a:solidFill>
                <a:latin typeface="Merriweather"/>
                <a:ea typeface="Merriweather"/>
                <a:cs typeface="Merriweather"/>
                <a:sym typeface="Merriweather"/>
              </a:rPr>
              <a:t>Phase 3</a:t>
            </a:r>
            <a:endParaRPr/>
          </a:p>
        </p:txBody>
      </p:sp>
      <p:sp>
        <p:nvSpPr>
          <p:cNvPr id="194" name="Google Shape;194;p20"/>
          <p:cNvSpPr txBox="1"/>
          <p:nvPr/>
        </p:nvSpPr>
        <p:spPr>
          <a:xfrm>
            <a:off x="6316860" y="4538662"/>
            <a:ext cx="2430660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Lancement Ventes Hebdomadaires</a:t>
            </a:r>
            <a:endParaRPr/>
          </a:p>
        </p:txBody>
      </p:sp>
      <p:sp>
        <p:nvSpPr>
          <p:cNvPr id="195" name="Google Shape;195;p20"/>
          <p:cNvSpPr/>
          <p:nvPr/>
        </p:nvSpPr>
        <p:spPr>
          <a:xfrm>
            <a:off x="10166746" y="3462337"/>
            <a:ext cx="476250" cy="476250"/>
          </a:xfrm>
          <a:prstGeom prst="roundRect">
            <a:avLst>
              <a:gd fmla="val 50000" name="adj"/>
            </a:avLst>
          </a:prstGeom>
          <a:solidFill>
            <a:srgbClr val="1A3A3A"/>
          </a:solidFill>
          <a:ln cap="flat" cmpd="sng" w="47625">
            <a:solidFill>
              <a:srgbClr val="F4E8D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6" name="Google Shape;196;p20"/>
          <p:cNvSpPr txBox="1"/>
          <p:nvPr/>
        </p:nvSpPr>
        <p:spPr>
          <a:xfrm>
            <a:off x="9128774" y="4129087"/>
            <a:ext cx="2552193" cy="219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4" u="none" cap="none" strike="noStrike">
                <a:solidFill>
                  <a:srgbClr val="1A3A3A"/>
                </a:solidFill>
                <a:latin typeface="Merriweather"/>
                <a:ea typeface="Merriweather"/>
                <a:cs typeface="Merriweather"/>
                <a:sym typeface="Merriweather"/>
              </a:rPr>
              <a:t>Phase 4</a:t>
            </a:r>
            <a:endParaRPr/>
          </a:p>
        </p:txBody>
      </p:sp>
      <p:sp>
        <p:nvSpPr>
          <p:cNvPr id="197" name="Google Shape;197;p20"/>
          <p:cNvSpPr txBox="1"/>
          <p:nvPr/>
        </p:nvSpPr>
        <p:spPr>
          <a:xfrm>
            <a:off x="9189541" y="4538662"/>
            <a:ext cx="2430660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Optimisation du Bénéfice Net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4E8D1"/>
        </a:solidFill>
      </p:bgPr>
    </p:bg>
    <p:spTree>
      <p:nvGrpSpPr>
        <p:cNvPr id="20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02" name="Google Shape;202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03" name="Google Shape;203;p2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2663874"/>
            <a:ext cx="11049000" cy="1530250"/>
          </a:xfrm>
          <a:prstGeom prst="rect">
            <a:avLst/>
          </a:prstGeom>
          <a:noFill/>
          <a:ln>
            <a:noFill/>
          </a:ln>
        </p:spPr>
      </p:pic>
      <p:sp>
        <p:nvSpPr>
          <p:cNvPr id="204" name="Google Shape;204;p21"/>
          <p:cNvSpPr txBox="1"/>
          <p:nvPr/>
        </p:nvSpPr>
        <p:spPr>
          <a:xfrm>
            <a:off x="809625" y="571500"/>
            <a:ext cx="11351418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1A3A3A"/>
                </a:solidFill>
                <a:latin typeface="Merriweather"/>
                <a:ea typeface="Merriweather"/>
                <a:cs typeface="Merriweather"/>
                <a:sym typeface="Merriweather"/>
              </a:rPr>
              <a:t>Calcul de la Marge Nette</a:t>
            </a:r>
            <a:endParaRPr/>
          </a:p>
        </p:txBody>
      </p:sp>
      <p:sp>
        <p:nvSpPr>
          <p:cNvPr id="205" name="Google Shape;205;p21"/>
          <p:cNvSpPr/>
          <p:nvPr/>
        </p:nvSpPr>
        <p:spPr>
          <a:xfrm>
            <a:off x="571500" y="571500"/>
            <a:ext cx="76200" cy="571500"/>
          </a:xfrm>
          <a:prstGeom prst="rect">
            <a:avLst/>
          </a:prstGeom>
          <a:solidFill>
            <a:srgbClr val="2D5A2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6" name="Google Shape;206;p21"/>
          <p:cNvSpPr txBox="1"/>
          <p:nvPr/>
        </p:nvSpPr>
        <p:spPr>
          <a:xfrm>
            <a:off x="571500" y="4575125"/>
            <a:ext cx="110490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Objectif de marge nette pour BIOZAR 2026 : </a:t>
            </a:r>
            <a:r>
              <a:rPr b="1" i="0" lang="en-US" sz="1800" u="none" cap="none" strike="noStrik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~27%</a:t>
            </a:r>
            <a:endParaRPr/>
          </a:p>
        </p:txBody>
      </p:sp>
      <p:pic>
        <p:nvPicPr>
          <p:cNvPr descr="image.png" id="207" name="Google Shape;207;p2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971550" y="3063924"/>
            <a:ext cx="10248900" cy="7301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4E8D1"/>
        </a:solidFill>
      </p:bgPr>
    </p:bg>
    <p:spTree>
      <p:nvGrpSpPr>
        <p:cNvPr id="21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12" name="Google Shape;212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13" name="Google Shape;213;p22"/>
          <p:cNvSpPr txBox="1"/>
          <p:nvPr/>
        </p:nvSpPr>
        <p:spPr>
          <a:xfrm>
            <a:off x="295275" y="1681162"/>
            <a:ext cx="11601450" cy="7143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500" u="none" cap="none" strike="noStrike">
                <a:solidFill>
                  <a:srgbClr val="1A3A3A"/>
                </a:solidFill>
                <a:latin typeface="Merriweather"/>
                <a:ea typeface="Merriweather"/>
                <a:cs typeface="Merriweather"/>
                <a:sym typeface="Merriweather"/>
              </a:rPr>
              <a:t>Merci pour votre attention</a:t>
            </a:r>
            <a:endParaRPr/>
          </a:p>
        </p:txBody>
      </p:sp>
      <p:sp>
        <p:nvSpPr>
          <p:cNvPr id="214" name="Google Shape;214;p22"/>
          <p:cNvSpPr txBox="1"/>
          <p:nvPr/>
        </p:nvSpPr>
        <p:spPr>
          <a:xfrm>
            <a:off x="571500" y="2700337"/>
            <a:ext cx="11049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2400" u="none" cap="none" strike="noStrike">
                <a:solidFill>
                  <a:srgbClr val="2D5A27"/>
                </a:solidFill>
                <a:latin typeface="DM Sans"/>
                <a:ea typeface="DM Sans"/>
                <a:cs typeface="DM Sans"/>
                <a:sym typeface="DM Sans"/>
              </a:rPr>
              <a:t>Des questions sur BIOZAR 2026 ?</a:t>
            </a:r>
            <a:endParaRPr/>
          </a:p>
        </p:txBody>
      </p:sp>
      <p:sp>
        <p:nvSpPr>
          <p:cNvPr id="215" name="Google Shape;215;p22"/>
          <p:cNvSpPr txBox="1"/>
          <p:nvPr/>
        </p:nvSpPr>
        <p:spPr>
          <a:xfrm>
            <a:off x="571500" y="4224337"/>
            <a:ext cx="11049000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Région DIANA, Madagascar</a:t>
            </a:r>
            <a:endParaRPr/>
          </a:p>
        </p:txBody>
      </p:sp>
      <p:sp>
        <p:nvSpPr>
          <p:cNvPr id="216" name="Google Shape;216;p22"/>
          <p:cNvSpPr txBox="1"/>
          <p:nvPr/>
        </p:nvSpPr>
        <p:spPr>
          <a:xfrm>
            <a:off x="571500" y="4700587"/>
            <a:ext cx="11049000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Fraîcheur du bazar, le Bio est la star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4E8D1"/>
        </a:solidFill>
      </p:bgPr>
    </p:bg>
    <p:spTree>
      <p:nvGrpSpPr>
        <p:cNvPr id="220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21" name="Google Shape;221;p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22" name="Google Shape;222;p23"/>
          <p:cNvSpPr txBox="1"/>
          <p:nvPr/>
        </p:nvSpPr>
        <p:spPr>
          <a:xfrm>
            <a:off x="809625" y="571500"/>
            <a:ext cx="11351418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1A3A3A"/>
                </a:solidFill>
                <a:latin typeface="Merriweather"/>
                <a:ea typeface="Merriweather"/>
                <a:cs typeface="Merriweather"/>
                <a:sym typeface="Merriweather"/>
              </a:rPr>
              <a:t>Image Sources</a:t>
            </a:r>
            <a:endParaRPr/>
          </a:p>
        </p:txBody>
      </p:sp>
      <p:sp>
        <p:nvSpPr>
          <p:cNvPr id="223" name="Google Shape;223;p23"/>
          <p:cNvSpPr/>
          <p:nvPr/>
        </p:nvSpPr>
        <p:spPr>
          <a:xfrm>
            <a:off x="571500" y="571500"/>
            <a:ext cx="76200" cy="571500"/>
          </a:xfrm>
          <a:prstGeom prst="rect">
            <a:avLst/>
          </a:prstGeom>
          <a:solidFill>
            <a:srgbClr val="2D5A2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4" name="Google Shape;224;p23"/>
          <p:cNvSpPr/>
          <p:nvPr/>
        </p:nvSpPr>
        <p:spPr>
          <a:xfrm>
            <a:off x="571500" y="3138487"/>
            <a:ext cx="11049000" cy="7715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5" name="Google Shape;225;p23"/>
          <p:cNvSpPr/>
          <p:nvPr/>
        </p:nvSpPr>
        <p:spPr>
          <a:xfrm>
            <a:off x="571500" y="3900487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6" name="Google Shape;226;p23"/>
          <p:cNvSpPr/>
          <p:nvPr/>
        </p:nvSpPr>
        <p:spPr>
          <a:xfrm>
            <a:off x="571500" y="3900487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227" name="Google Shape;227;p2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3281362"/>
            <a:ext cx="857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228" name="Google Shape;228;p23"/>
          <p:cNvSpPr txBox="1"/>
          <p:nvPr/>
        </p:nvSpPr>
        <p:spPr>
          <a:xfrm>
            <a:off x="1666875" y="3288506"/>
            <a:ext cx="9953625" cy="18573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4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http://www.ukrainegiftdelivery.com/cdn/shop/files/fresh-organic-food-basket-regular-15-pounds-gift-baskets-516.jpg?v=1758194360&amp;width=2048</a:t>
            </a:r>
            <a:endParaRPr/>
          </a:p>
        </p:txBody>
      </p:sp>
      <p:sp>
        <p:nvSpPr>
          <p:cNvPr id="229" name="Google Shape;229;p23"/>
          <p:cNvSpPr txBox="1"/>
          <p:nvPr/>
        </p:nvSpPr>
        <p:spPr>
          <a:xfrm>
            <a:off x="1666875" y="3521868"/>
            <a:ext cx="9953625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Source: </a:t>
            </a:r>
            <a:r>
              <a:rPr b="0" i="0" lang="en-US" sz="1200" u="none" cap="none" strike="noStrike">
                <a:solidFill>
                  <a:srgbClr val="4F46E5"/>
                </a:solidFill>
                <a:latin typeface="DM Sans"/>
                <a:ea typeface="DM Sans"/>
                <a:cs typeface="DM Sans"/>
                <a:sym typeface="DM Sans"/>
              </a:rPr>
              <a:t>www.ukrainegiftdelivery.com</a:t>
            </a:r>
            <a:endParaRPr/>
          </a:p>
        </p:txBody>
      </p:sp>
      <p:pic>
        <p:nvPicPr>
          <p:cNvPr descr="image.png" id="230" name="Google Shape;230;p2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71500" y="4052887"/>
            <a:ext cx="857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231" name="Google Shape;231;p23"/>
          <p:cNvSpPr txBox="1"/>
          <p:nvPr/>
        </p:nvSpPr>
        <p:spPr>
          <a:xfrm>
            <a:off x="1666875" y="4060031"/>
            <a:ext cx="9953625" cy="18573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4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https://intersolarsystems.com/wp-content/uploads/2023/10/blog-imgg-1.webp</a:t>
            </a:r>
            <a:endParaRPr/>
          </a:p>
        </p:txBody>
      </p:sp>
      <p:sp>
        <p:nvSpPr>
          <p:cNvPr id="232" name="Google Shape;232;p23"/>
          <p:cNvSpPr txBox="1"/>
          <p:nvPr/>
        </p:nvSpPr>
        <p:spPr>
          <a:xfrm>
            <a:off x="1666875" y="4293393"/>
            <a:ext cx="9953625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Source: </a:t>
            </a:r>
            <a:r>
              <a:rPr b="0" i="0" lang="en-US" sz="1200" u="none" cap="none" strike="noStrike">
                <a:solidFill>
                  <a:srgbClr val="4F46E5"/>
                </a:solidFill>
                <a:latin typeface="DM Sans"/>
                <a:ea typeface="DM Sans"/>
                <a:cs typeface="DM Sans"/>
                <a:sym typeface="DM Sans"/>
              </a:rPr>
              <a:t>intersolarsystems.com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