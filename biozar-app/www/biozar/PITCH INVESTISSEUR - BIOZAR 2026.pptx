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6858000" cx="12192000"/>
  <p:notesSz cx="6858000" cy="9144000"/>
  <p:embeddedFontLst>
    <p:embeddedFont>
      <p:font typeface="Poppins"/>
      <p:regular r:id="rId18"/>
      <p:bold r:id="rId19"/>
      <p:italic r:id="rId20"/>
      <p:boldItalic r:id="rId21"/>
    </p:embeddedFont>
    <p:embeddedFont>
      <p:font typeface="Lato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D10F40A-9484-4D6D-9E1B-6401B9589316}">
  <a:tblStyle styleId="{0D10F40A-9484-4D6D-9E1B-6401B9589316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-italic.fntdata"/><Relationship Id="rId22" Type="http://schemas.openxmlformats.org/officeDocument/2006/relationships/font" Target="fonts/Lato-regular.fntdata"/><Relationship Id="rId21" Type="http://schemas.openxmlformats.org/officeDocument/2006/relationships/font" Target="fonts/Poppins-boldItalic.fntdata"/><Relationship Id="rId24" Type="http://schemas.openxmlformats.org/officeDocument/2006/relationships/font" Target="fonts/Lato-italic.fntdata"/><Relationship Id="rId23" Type="http://schemas.openxmlformats.org/officeDocument/2006/relationships/font" Target="fonts/Lato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5" Type="http://schemas.openxmlformats.org/officeDocument/2006/relationships/font" Target="fonts/Lato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Poppins-bold.fntdata"/><Relationship Id="rId18" Type="http://schemas.openxmlformats.org/officeDocument/2006/relationships/font" Target="fonts/Poppins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11.png"/><Relationship Id="rId5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16.png"/><Relationship Id="rId5" Type="http://schemas.openxmlformats.org/officeDocument/2006/relationships/image" Target="../media/image9.png"/><Relationship Id="rId6" Type="http://schemas.openxmlformats.org/officeDocument/2006/relationships/image" Target="../media/image1.png"/><Relationship Id="rId7" Type="http://schemas.openxmlformats.org/officeDocument/2006/relationships/image" Target="../media/image6.png"/><Relationship Id="rId8" Type="http://schemas.openxmlformats.org/officeDocument/2006/relationships/image" Target="../media/image1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10.png"/><Relationship Id="rId7" Type="http://schemas.openxmlformats.org/officeDocument/2006/relationships/image" Target="../media/image1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E8D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95275" y="1609725"/>
            <a:ext cx="11601450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0" u="none" cap="none" strike="noStrike">
                <a:solidFill>
                  <a:srgbClr val="1A3A3A"/>
                </a:solidFill>
                <a:latin typeface="Poppins"/>
                <a:ea typeface="Poppins"/>
                <a:cs typeface="Poppins"/>
                <a:sym typeface="Poppins"/>
              </a:rPr>
              <a:t>BIOZAR 2026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571500" y="3181350"/>
            <a:ext cx="110490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2D5A27"/>
                </a:solidFill>
                <a:latin typeface="Lato"/>
                <a:ea typeface="Lato"/>
                <a:cs typeface="Lato"/>
                <a:sym typeface="Lato"/>
              </a:rPr>
              <a:t>L'Agrobusiness Bio-Régénératif à Madagascar</a:t>
            </a:r>
            <a:endParaRPr/>
          </a:p>
        </p:txBody>
      </p:sp>
      <p:sp>
        <p:nvSpPr>
          <p:cNvPr id="87" name="Google Shape;87;p13"/>
          <p:cNvSpPr/>
          <p:nvPr/>
        </p:nvSpPr>
        <p:spPr>
          <a:xfrm>
            <a:off x="5381625" y="4076700"/>
            <a:ext cx="1428750" cy="57150"/>
          </a:xfrm>
          <a:prstGeom prst="rect">
            <a:avLst/>
          </a:prstGeom>
          <a:solidFill>
            <a:srgbClr val="2D5A2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571500" y="4743450"/>
            <a:ext cx="110490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A3A3A"/>
                </a:solidFill>
                <a:latin typeface="Lato"/>
                <a:ea typeface="Lato"/>
                <a:cs typeface="Lato"/>
                <a:sym typeface="Lato"/>
              </a:rPr>
              <a:t>DOSSIER D'INVESTISSEMENT STRATÉGIQUE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E8D1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52687"/>
            <a:ext cx="5286375" cy="2886075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A3A3A"/>
                </a:solidFill>
                <a:latin typeface="Poppins"/>
                <a:ea typeface="Poppins"/>
                <a:cs typeface="Poppins"/>
                <a:sym typeface="Poppins"/>
              </a:rPr>
              <a:t>UN MARCHÉ EN PLEINE MUTATION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1009650" y="2833687"/>
            <a:ext cx="4467225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0" u="none" cap="none" strike="noStrike">
                <a:solidFill>
                  <a:srgbClr val="2D5A27"/>
                </a:solidFill>
                <a:latin typeface="Lato"/>
                <a:ea typeface="Lato"/>
                <a:cs typeface="Lato"/>
                <a:sym typeface="Lato"/>
              </a:rPr>
              <a:t>10x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1009650" y="3976687"/>
            <a:ext cx="446722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A3A3A"/>
                </a:solidFill>
                <a:latin typeface="Lato"/>
                <a:ea typeface="Lato"/>
                <a:cs typeface="Lato"/>
                <a:sym typeface="Lato"/>
              </a:rPr>
              <a:t>Demande en Produits Bio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1009650" y="4443412"/>
            <a:ext cx="446722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A3A3A"/>
                </a:solidFill>
                <a:latin typeface="Lato"/>
                <a:ea typeface="Lato"/>
                <a:cs typeface="Lato"/>
                <a:sym typeface="Lato"/>
              </a:rPr>
              <a:t>Forte croissance de la demande B2B (Nosy Be / Diego Suarez) pour des standards de qualité européenne.</a:t>
            </a:r>
            <a:endParaRPr/>
          </a:p>
        </p:txBody>
      </p:sp>
      <p:pic>
        <p:nvPicPr>
          <p:cNvPr descr="image.png" id="99" name="Google Shape;99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1990725"/>
            <a:ext cx="2238375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3A3A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4" name="Google Shape;10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5"/>
          <p:cNvSpPr txBox="1"/>
          <p:nvPr/>
        </p:nvSpPr>
        <p:spPr>
          <a:xfrm>
            <a:off x="295275" y="2495550"/>
            <a:ext cx="11601450" cy="1009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250" u="none" cap="none" strike="noStrike">
                <a:solidFill>
                  <a:srgbClr val="F4E8D1"/>
                </a:solidFill>
                <a:latin typeface="Poppins"/>
                <a:ea typeface="Poppins"/>
                <a:cs typeface="Poppins"/>
                <a:sym typeface="Poppins"/>
              </a:rPr>
              <a:t>L'Ingénierie BIOZAR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571500" y="3771900"/>
            <a:ext cx="110490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Réduire les coûts, Maximiser le rendement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E8D1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1" name="Google Shape;11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738437"/>
            <a:ext cx="3524250" cy="2314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" name="Google Shape;113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33875" y="2738437"/>
            <a:ext cx="3524250" cy="2314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96250" y="2738437"/>
            <a:ext cx="3524250" cy="2314575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6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A3A3A"/>
                </a:solidFill>
                <a:latin typeface="Poppins"/>
                <a:ea typeface="Poppins"/>
                <a:cs typeface="Poppins"/>
                <a:sym typeface="Poppins"/>
              </a:rPr>
              <a:t>NOS 3 AVANTAGES COMPÉTITIFS</a:t>
            </a:r>
            <a:endParaRPr/>
          </a:p>
        </p:txBody>
      </p:sp>
      <p:pic>
        <p:nvPicPr>
          <p:cNvPr descr="image.png" id="116" name="Google Shape;116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171700" y="3024187"/>
            <a:ext cx="323850" cy="428625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6"/>
          <p:cNvSpPr txBox="1"/>
          <p:nvPr/>
        </p:nvSpPr>
        <p:spPr>
          <a:xfrm>
            <a:off x="783431" y="3643312"/>
            <a:ext cx="3100387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A3A3A"/>
                </a:solidFill>
                <a:latin typeface="Poppins"/>
                <a:ea typeface="Poppins"/>
                <a:cs typeface="Poppins"/>
                <a:sym typeface="Poppins"/>
              </a:rPr>
              <a:t>Nutrition Active (TCO)</a:t>
            </a:r>
            <a:endParaRPr/>
          </a:p>
        </p:txBody>
      </p:sp>
      <p:sp>
        <p:nvSpPr>
          <p:cNvPr id="118" name="Google Shape;118;p16"/>
          <p:cNvSpPr txBox="1"/>
          <p:nvPr/>
        </p:nvSpPr>
        <p:spPr>
          <a:xfrm>
            <a:off x="857250" y="4071937"/>
            <a:ext cx="295275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A3A3A"/>
                </a:solidFill>
                <a:latin typeface="Lato"/>
                <a:ea typeface="Lato"/>
                <a:cs typeface="Lato"/>
                <a:sym typeface="Lato"/>
              </a:rPr>
              <a:t>Thé de Compost Oxygéné autoproduit : Croissance boostée et immunité naturelle des plantes.</a:t>
            </a:r>
            <a:endParaRPr/>
          </a:p>
        </p:txBody>
      </p:sp>
      <p:pic>
        <p:nvPicPr>
          <p:cNvPr descr="image.png" id="119" name="Google Shape;119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81687" y="3024187"/>
            <a:ext cx="428625" cy="428625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6"/>
          <p:cNvSpPr txBox="1"/>
          <p:nvPr/>
        </p:nvSpPr>
        <p:spPr>
          <a:xfrm>
            <a:off x="4545806" y="3643312"/>
            <a:ext cx="3100387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A3A3A"/>
                </a:solidFill>
                <a:latin typeface="Poppins"/>
                <a:ea typeface="Poppins"/>
                <a:cs typeface="Poppins"/>
                <a:sym typeface="Poppins"/>
              </a:rPr>
              <a:t>Énergie Solaire</a:t>
            </a:r>
            <a:endParaRPr/>
          </a:p>
        </p:txBody>
      </p:sp>
      <p:sp>
        <p:nvSpPr>
          <p:cNvPr id="121" name="Google Shape;121;p16"/>
          <p:cNvSpPr txBox="1"/>
          <p:nvPr/>
        </p:nvSpPr>
        <p:spPr>
          <a:xfrm>
            <a:off x="4619625" y="4071937"/>
            <a:ext cx="29527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A3A3A"/>
                </a:solidFill>
                <a:latin typeface="Lato"/>
                <a:ea typeface="Lato"/>
                <a:cs typeface="Lato"/>
                <a:sym typeface="Lato"/>
              </a:rPr>
              <a:t>Pompage et irrigation 100% autonomes. Suppression totale des coûts de carburant.</a:t>
            </a:r>
            <a:endParaRPr/>
          </a:p>
        </p:txBody>
      </p:sp>
      <p:pic>
        <p:nvPicPr>
          <p:cNvPr descr="image.png" id="122" name="Google Shape;122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644062" y="3024187"/>
            <a:ext cx="428625" cy="428625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/>
        </p:nvSpPr>
        <p:spPr>
          <a:xfrm>
            <a:off x="8308181" y="3643312"/>
            <a:ext cx="3100387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A3A3A"/>
                </a:solidFill>
                <a:latin typeface="Poppins"/>
                <a:ea typeface="Poppins"/>
                <a:cs typeface="Poppins"/>
                <a:sym typeface="Poppins"/>
              </a:rPr>
              <a:t>Berkeley Express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8382000" y="4071937"/>
            <a:ext cx="29527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A3A3A"/>
                </a:solidFill>
                <a:latin typeface="Lato"/>
                <a:ea typeface="Lato"/>
                <a:cs typeface="Lato"/>
                <a:sym typeface="Lato"/>
              </a:rPr>
              <a:t>Compostage ultra-rapide (18 jours). Régénération continue de la fertilité des sols.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E8D1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9" name="Google Shape;12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7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A3A3A"/>
                </a:solidFill>
                <a:latin typeface="Poppins"/>
                <a:ea typeface="Poppins"/>
                <a:cs typeface="Poppins"/>
                <a:sym typeface="Poppins"/>
              </a:rPr>
              <a:t>CIBLE PREMIUM : HÔTELLERIE NOSY BE</a:t>
            </a:r>
            <a:endParaRPr/>
          </a:p>
        </p:txBody>
      </p:sp>
      <p:pic>
        <p:nvPicPr>
          <p:cNvPr descr="image.png" id="131" name="Google Shape;131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990725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/>
        </p:nvSpPr>
        <p:spPr>
          <a:xfrm>
            <a:off x="828675" y="2950993"/>
            <a:ext cx="12382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A3A3A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33" name="Google Shape;133;p17"/>
          <p:cNvSpPr txBox="1"/>
          <p:nvPr/>
        </p:nvSpPr>
        <p:spPr>
          <a:xfrm>
            <a:off x="952500" y="2952898"/>
            <a:ext cx="4905375" cy="754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3825" spcFirstLastPara="1" rIns="0" wrap="square" tIns="0">
            <a:spAutoFit/>
          </a:bodyPr>
          <a:lstStyle/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A3A3A"/>
                </a:solidFill>
                <a:latin typeface="Lato"/>
                <a:ea typeface="Lato"/>
                <a:cs typeface="Lato"/>
                <a:sym typeface="Lato"/>
              </a:rPr>
              <a:t>Segment Grade A :</a:t>
            </a:r>
            <a:r>
              <a:rPr b="0" i="0" lang="en-US" sz="1650" u="none" cap="none" strike="noStrike">
                <a:solidFill>
                  <a:srgbClr val="1A3A3A"/>
                </a:solidFill>
                <a:latin typeface="Lato"/>
                <a:ea typeface="Lato"/>
                <a:cs typeface="Lato"/>
                <a:sym typeface="Lato"/>
              </a:rPr>
              <a:t> Contrats annuels avec les resorts de luxe.</a:t>
            </a:r>
            <a:endParaRPr/>
          </a:p>
        </p:txBody>
      </p:sp>
      <p:sp>
        <p:nvSpPr>
          <p:cNvPr id="134" name="Google Shape;134;p17"/>
          <p:cNvSpPr txBox="1"/>
          <p:nvPr/>
        </p:nvSpPr>
        <p:spPr>
          <a:xfrm>
            <a:off x="828675" y="3705254"/>
            <a:ext cx="12382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A3A3A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35" name="Google Shape;135;p17"/>
          <p:cNvSpPr txBox="1"/>
          <p:nvPr/>
        </p:nvSpPr>
        <p:spPr>
          <a:xfrm>
            <a:off x="952500" y="3707159"/>
            <a:ext cx="4905375" cy="377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3825" spcFirstLastPara="1" rIns="0" wrap="square" tIns="0">
            <a:spAutoFit/>
          </a:bodyPr>
          <a:lstStyle/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A3A3A"/>
                </a:solidFill>
                <a:latin typeface="Lato"/>
                <a:ea typeface="Lato"/>
                <a:cs typeface="Lato"/>
                <a:sym typeface="Lato"/>
              </a:rPr>
              <a:t>Logistique dédiée :</a:t>
            </a:r>
            <a:r>
              <a:rPr b="0" i="0" lang="en-US" sz="1650" u="none" cap="none" strike="noStrike">
                <a:solidFill>
                  <a:srgbClr val="1A3A3A"/>
                </a:solidFill>
                <a:latin typeface="Lato"/>
                <a:ea typeface="Lato"/>
                <a:cs typeface="Lato"/>
                <a:sym typeface="Lato"/>
              </a:rPr>
              <a:t> Livraison fraîcheur J+0.</a:t>
            </a:r>
            <a:endParaRPr/>
          </a:p>
        </p:txBody>
      </p:sp>
      <p:sp>
        <p:nvSpPr>
          <p:cNvPr id="136" name="Google Shape;136;p17"/>
          <p:cNvSpPr txBox="1"/>
          <p:nvPr/>
        </p:nvSpPr>
        <p:spPr>
          <a:xfrm>
            <a:off x="828675" y="4082385"/>
            <a:ext cx="12382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A3A3A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37" name="Google Shape;137;p17"/>
          <p:cNvSpPr txBox="1"/>
          <p:nvPr/>
        </p:nvSpPr>
        <p:spPr>
          <a:xfrm>
            <a:off x="952500" y="4084290"/>
            <a:ext cx="4905375" cy="754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3825" spcFirstLastPara="1" rIns="0" wrap="square" tIns="0">
            <a:spAutoFit/>
          </a:bodyPr>
          <a:lstStyle/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1A3A3A"/>
                </a:solidFill>
                <a:latin typeface="Lato"/>
                <a:ea typeface="Lato"/>
                <a:cs typeface="Lato"/>
                <a:sym typeface="Lato"/>
              </a:rPr>
              <a:t>Volume Garanti :</a:t>
            </a:r>
            <a:r>
              <a:rPr b="0" i="0" lang="en-US" sz="1650" u="none" cap="none" strike="noStrike">
                <a:solidFill>
                  <a:srgbClr val="1A3A3A"/>
                </a:solidFill>
                <a:latin typeface="Lato"/>
                <a:ea typeface="Lato"/>
                <a:cs typeface="Lato"/>
                <a:sym typeface="Lato"/>
              </a:rPr>
              <a:t> Sécurisation de 60% de la production par pré-achat.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E8D1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2" name="Google Shape;14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8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A3A3A"/>
                </a:solidFill>
                <a:latin typeface="Poppins"/>
                <a:ea typeface="Poppins"/>
                <a:cs typeface="Poppins"/>
                <a:sym typeface="Poppins"/>
              </a:rPr>
              <a:t>STRUCTURE DE COÛT DISRUPTIVE</a:t>
            </a:r>
            <a:endParaRPr/>
          </a:p>
        </p:txBody>
      </p:sp>
      <p:sp>
        <p:nvSpPr>
          <p:cNvPr id="144" name="Google Shape;144;p18"/>
          <p:cNvSpPr/>
          <p:nvPr/>
        </p:nvSpPr>
        <p:spPr>
          <a:xfrm>
            <a:off x="571500" y="2876550"/>
            <a:ext cx="11049000" cy="2038350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45" name="Google Shape;145;p18"/>
          <p:cNvGraphicFramePr/>
          <p:nvPr/>
        </p:nvGraphicFramePr>
        <p:xfrm>
          <a:off x="571500" y="287655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{0D10F40A-9484-4D6D-9E1B-6401B9589316}</a:tableStyleId>
              </a:tblPr>
              <a:tblGrid>
                <a:gridCol w="3164675"/>
                <a:gridCol w="4390275"/>
                <a:gridCol w="3494025"/>
              </a:tblGrid>
              <a:tr h="509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Indicateur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3A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Agriculture Conventionnelle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3A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Modèle BIOZAR 2026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3A3A"/>
                    </a:solidFill>
                  </a:tcPr>
                </a:tc>
              </a:tr>
              <a:tr h="509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A3A3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Coût Engrais / kg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A3A3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800 Ar (Importé)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1A3A3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50 Ar (Autoproduit)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95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A3A3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Énergie Irrigation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A3A3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Variable (Diesel/JIRAMA)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1A3A3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 Ar (Solaire)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9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A3A3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Marge Brute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1A3A3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~25%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1A3A3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&gt; 50%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46" name="Google Shape;146;p18"/>
          <p:cNvSpPr/>
          <p:nvPr/>
        </p:nvSpPr>
        <p:spPr>
          <a:xfrm>
            <a:off x="571500" y="3890962"/>
            <a:ext cx="3164681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8"/>
          <p:cNvSpPr/>
          <p:nvPr/>
        </p:nvSpPr>
        <p:spPr>
          <a:xfrm>
            <a:off x="3736181" y="3890962"/>
            <a:ext cx="4390280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8"/>
          <p:cNvSpPr/>
          <p:nvPr/>
        </p:nvSpPr>
        <p:spPr>
          <a:xfrm>
            <a:off x="8126462" y="3890962"/>
            <a:ext cx="3494037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8"/>
          <p:cNvSpPr/>
          <p:nvPr/>
        </p:nvSpPr>
        <p:spPr>
          <a:xfrm>
            <a:off x="571500" y="4395787"/>
            <a:ext cx="3164681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8"/>
          <p:cNvSpPr/>
          <p:nvPr/>
        </p:nvSpPr>
        <p:spPr>
          <a:xfrm>
            <a:off x="3736181" y="4395787"/>
            <a:ext cx="4390280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8"/>
          <p:cNvSpPr/>
          <p:nvPr/>
        </p:nvSpPr>
        <p:spPr>
          <a:xfrm>
            <a:off x="8126462" y="4395787"/>
            <a:ext cx="3494037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8"/>
          <p:cNvSpPr/>
          <p:nvPr/>
        </p:nvSpPr>
        <p:spPr>
          <a:xfrm>
            <a:off x="571500" y="4900612"/>
            <a:ext cx="3164681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8"/>
          <p:cNvSpPr/>
          <p:nvPr/>
        </p:nvSpPr>
        <p:spPr>
          <a:xfrm>
            <a:off x="3736181" y="4900612"/>
            <a:ext cx="4390280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8"/>
          <p:cNvSpPr/>
          <p:nvPr/>
        </p:nvSpPr>
        <p:spPr>
          <a:xfrm>
            <a:off x="8126462" y="4900612"/>
            <a:ext cx="3494037" cy="9525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E8D1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9" name="Google Shape;15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0" name="Google Shape;160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500" y="2643187"/>
            <a:ext cx="8763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1" name="Google Shape;161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500" y="3262312"/>
            <a:ext cx="8763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2" name="Google Shape;162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500" y="3881437"/>
            <a:ext cx="8763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3" name="Google Shape;163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857500" y="2643187"/>
            <a:ext cx="48196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4" name="Google Shape;164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857500" y="3262312"/>
            <a:ext cx="280407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5" name="Google Shape;165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857500" y="3881437"/>
            <a:ext cx="17526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9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A3A3A"/>
                </a:solidFill>
                <a:latin typeface="Poppins"/>
                <a:ea typeface="Poppins"/>
                <a:cs typeface="Poppins"/>
                <a:sym typeface="Poppins"/>
              </a:rPr>
              <a:t>PROJECTION DES REVENUS MENSUELS</a:t>
            </a:r>
            <a:endParaRPr/>
          </a:p>
        </p:txBody>
      </p:sp>
      <p:sp>
        <p:nvSpPr>
          <p:cNvPr id="167" name="Google Shape;167;p19"/>
          <p:cNvSpPr txBox="1"/>
          <p:nvPr/>
        </p:nvSpPr>
        <p:spPr>
          <a:xfrm>
            <a:off x="571500" y="4643437"/>
            <a:ext cx="110490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A3A3A"/>
                </a:solidFill>
                <a:latin typeface="Lato"/>
                <a:ea typeface="Lato"/>
                <a:cs typeface="Lato"/>
                <a:sym typeface="Lato"/>
              </a:rPr>
              <a:t>Seuil de Rentabilité atteint à 285 kg / mois</a:t>
            </a:r>
            <a:endParaRPr/>
          </a:p>
        </p:txBody>
      </p:sp>
      <p:sp>
        <p:nvSpPr>
          <p:cNvPr id="168" name="Google Shape;168;p19"/>
          <p:cNvSpPr txBox="1"/>
          <p:nvPr/>
        </p:nvSpPr>
        <p:spPr>
          <a:xfrm>
            <a:off x="571500" y="2743200"/>
            <a:ext cx="20955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A3A3A"/>
                </a:solidFill>
                <a:latin typeface="Lato"/>
                <a:ea typeface="Lato"/>
                <a:cs typeface="Lato"/>
                <a:sym typeface="Lato"/>
              </a:rPr>
              <a:t>Hôtellerie (Grade A)</a:t>
            </a:r>
            <a:endParaRPr/>
          </a:p>
        </p:txBody>
      </p:sp>
      <p:sp>
        <p:nvSpPr>
          <p:cNvPr id="169" name="Google Shape;169;p19"/>
          <p:cNvSpPr txBox="1"/>
          <p:nvPr/>
        </p:nvSpPr>
        <p:spPr>
          <a:xfrm>
            <a:off x="571500" y="3362325"/>
            <a:ext cx="20955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A3A3A"/>
                </a:solidFill>
                <a:latin typeface="Lato"/>
                <a:ea typeface="Lato"/>
                <a:cs typeface="Lato"/>
                <a:sym typeface="Lato"/>
              </a:rPr>
              <a:t>Abonnés (Grade B)</a:t>
            </a:r>
            <a:endParaRPr/>
          </a:p>
        </p:txBody>
      </p:sp>
      <p:sp>
        <p:nvSpPr>
          <p:cNvPr id="170" name="Google Shape;170;p19"/>
          <p:cNvSpPr txBox="1"/>
          <p:nvPr/>
        </p:nvSpPr>
        <p:spPr>
          <a:xfrm>
            <a:off x="571500" y="3981450"/>
            <a:ext cx="20955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A3A3A"/>
                </a:solidFill>
                <a:latin typeface="Lato"/>
                <a:ea typeface="Lato"/>
                <a:cs typeface="Lato"/>
                <a:sym typeface="Lato"/>
              </a:rPr>
              <a:t>Vente Directe / Bazar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E8D1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5" name="Google Shape;17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0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A3A3A"/>
                </a:solidFill>
                <a:latin typeface="Poppins"/>
                <a:ea typeface="Poppins"/>
                <a:cs typeface="Poppins"/>
                <a:sym typeface="Poppins"/>
              </a:rPr>
              <a:t>FEUILLE DE ROUTE 2026</a:t>
            </a:r>
            <a:endParaRPr/>
          </a:p>
        </p:txBody>
      </p:sp>
      <p:sp>
        <p:nvSpPr>
          <p:cNvPr id="177" name="Google Shape;177;p20"/>
          <p:cNvSpPr/>
          <p:nvPr/>
        </p:nvSpPr>
        <p:spPr>
          <a:xfrm>
            <a:off x="571500" y="4162425"/>
            <a:ext cx="11049000" cy="38100"/>
          </a:xfrm>
          <a:prstGeom prst="rect">
            <a:avLst/>
          </a:prstGeom>
          <a:solidFill>
            <a:srgbClr val="2D5A2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20"/>
          <p:cNvSpPr/>
          <p:nvPr/>
        </p:nvSpPr>
        <p:spPr>
          <a:xfrm>
            <a:off x="1572517" y="3514725"/>
            <a:ext cx="428625" cy="428625"/>
          </a:xfrm>
          <a:prstGeom prst="roundRect">
            <a:avLst>
              <a:gd fmla="val 50000" name="adj"/>
            </a:avLst>
          </a:prstGeom>
          <a:solidFill>
            <a:srgbClr val="1A3A3A"/>
          </a:solidFill>
          <a:ln cap="flat" cmpd="sng" w="57150">
            <a:solidFill>
              <a:srgbClr val="F4E8D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20"/>
          <p:cNvSpPr txBox="1"/>
          <p:nvPr/>
        </p:nvSpPr>
        <p:spPr>
          <a:xfrm>
            <a:off x="510733" y="4086225"/>
            <a:ext cx="255219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A3A3A"/>
                </a:solidFill>
                <a:latin typeface="Poppins"/>
                <a:ea typeface="Poppins"/>
                <a:cs typeface="Poppins"/>
                <a:sym typeface="Poppins"/>
              </a:rPr>
              <a:t>T1 2026</a:t>
            </a:r>
            <a:endParaRPr/>
          </a:p>
        </p:txBody>
      </p:sp>
      <p:sp>
        <p:nvSpPr>
          <p:cNvPr id="180" name="Google Shape;180;p20"/>
          <p:cNvSpPr txBox="1"/>
          <p:nvPr/>
        </p:nvSpPr>
        <p:spPr>
          <a:xfrm>
            <a:off x="571500" y="4514850"/>
            <a:ext cx="243066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A3A3A"/>
                </a:solidFill>
                <a:latin typeface="Lato"/>
                <a:ea typeface="Lato"/>
                <a:cs typeface="Lato"/>
                <a:sym typeface="Lato"/>
              </a:rPr>
              <a:t>Infrastructure Solaire &amp; Berkeley</a:t>
            </a:r>
            <a:endParaRPr/>
          </a:p>
        </p:txBody>
      </p:sp>
      <p:sp>
        <p:nvSpPr>
          <p:cNvPr id="181" name="Google Shape;181;p20"/>
          <p:cNvSpPr/>
          <p:nvPr/>
        </p:nvSpPr>
        <p:spPr>
          <a:xfrm>
            <a:off x="4445198" y="3514725"/>
            <a:ext cx="428625" cy="428625"/>
          </a:xfrm>
          <a:prstGeom prst="roundRect">
            <a:avLst>
              <a:gd fmla="val 50000" name="adj"/>
            </a:avLst>
          </a:prstGeom>
          <a:solidFill>
            <a:srgbClr val="1A3A3A"/>
          </a:solidFill>
          <a:ln cap="flat" cmpd="sng" w="57150">
            <a:solidFill>
              <a:srgbClr val="F4E8D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0"/>
          <p:cNvSpPr txBox="1"/>
          <p:nvPr/>
        </p:nvSpPr>
        <p:spPr>
          <a:xfrm>
            <a:off x="3383413" y="4086225"/>
            <a:ext cx="255219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A3A3A"/>
                </a:solidFill>
                <a:latin typeface="Poppins"/>
                <a:ea typeface="Poppins"/>
                <a:cs typeface="Poppins"/>
                <a:sym typeface="Poppins"/>
              </a:rPr>
              <a:t>T2 2026</a:t>
            </a:r>
            <a:endParaRPr/>
          </a:p>
        </p:txBody>
      </p:sp>
      <p:sp>
        <p:nvSpPr>
          <p:cNvPr id="183" name="Google Shape;183;p20"/>
          <p:cNvSpPr txBox="1"/>
          <p:nvPr/>
        </p:nvSpPr>
        <p:spPr>
          <a:xfrm>
            <a:off x="3444180" y="4514850"/>
            <a:ext cx="243066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A3A3A"/>
                </a:solidFill>
                <a:latin typeface="Lato"/>
                <a:ea typeface="Lato"/>
                <a:cs typeface="Lato"/>
                <a:sym typeface="Lato"/>
              </a:rPr>
              <a:t>Lancement Contrats Hôteliers</a:t>
            </a:r>
            <a:endParaRPr/>
          </a:p>
        </p:txBody>
      </p:sp>
      <p:sp>
        <p:nvSpPr>
          <p:cNvPr id="184" name="Google Shape;184;p20"/>
          <p:cNvSpPr/>
          <p:nvPr/>
        </p:nvSpPr>
        <p:spPr>
          <a:xfrm>
            <a:off x="7317878" y="3514725"/>
            <a:ext cx="428625" cy="428625"/>
          </a:xfrm>
          <a:prstGeom prst="roundRect">
            <a:avLst>
              <a:gd fmla="val 50000" name="adj"/>
            </a:avLst>
          </a:prstGeom>
          <a:solidFill>
            <a:srgbClr val="1A3A3A"/>
          </a:solidFill>
          <a:ln cap="flat" cmpd="sng" w="57150">
            <a:solidFill>
              <a:srgbClr val="F4E8D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20"/>
          <p:cNvSpPr txBox="1"/>
          <p:nvPr/>
        </p:nvSpPr>
        <p:spPr>
          <a:xfrm>
            <a:off x="6256094" y="4086225"/>
            <a:ext cx="255219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A3A3A"/>
                </a:solidFill>
                <a:latin typeface="Poppins"/>
                <a:ea typeface="Poppins"/>
                <a:cs typeface="Poppins"/>
                <a:sym typeface="Poppins"/>
              </a:rPr>
              <a:t>T3 2026</a:t>
            </a:r>
            <a:endParaRPr/>
          </a:p>
        </p:txBody>
      </p:sp>
      <p:sp>
        <p:nvSpPr>
          <p:cNvPr id="186" name="Google Shape;186;p20"/>
          <p:cNvSpPr txBox="1"/>
          <p:nvPr/>
        </p:nvSpPr>
        <p:spPr>
          <a:xfrm>
            <a:off x="6316860" y="4514850"/>
            <a:ext cx="243066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A3A3A"/>
                </a:solidFill>
                <a:latin typeface="Lato"/>
                <a:ea typeface="Lato"/>
                <a:cs typeface="Lato"/>
                <a:sym typeface="Lato"/>
              </a:rPr>
              <a:t>Extension à 500 kg / mois</a:t>
            </a:r>
            <a:endParaRPr/>
          </a:p>
        </p:txBody>
      </p:sp>
      <p:sp>
        <p:nvSpPr>
          <p:cNvPr id="187" name="Google Shape;187;p20"/>
          <p:cNvSpPr/>
          <p:nvPr/>
        </p:nvSpPr>
        <p:spPr>
          <a:xfrm>
            <a:off x="10190559" y="3514725"/>
            <a:ext cx="428625" cy="428625"/>
          </a:xfrm>
          <a:prstGeom prst="roundRect">
            <a:avLst>
              <a:gd fmla="val 50000" name="adj"/>
            </a:avLst>
          </a:prstGeom>
          <a:solidFill>
            <a:srgbClr val="1A3A3A"/>
          </a:solidFill>
          <a:ln cap="flat" cmpd="sng" w="57150">
            <a:solidFill>
              <a:srgbClr val="F4E8D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20"/>
          <p:cNvSpPr txBox="1"/>
          <p:nvPr/>
        </p:nvSpPr>
        <p:spPr>
          <a:xfrm>
            <a:off x="9128774" y="4086225"/>
            <a:ext cx="255219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A3A3A"/>
                </a:solidFill>
                <a:latin typeface="Poppins"/>
                <a:ea typeface="Poppins"/>
                <a:cs typeface="Poppins"/>
                <a:sym typeface="Poppins"/>
              </a:rPr>
              <a:t>T4 2026</a:t>
            </a:r>
            <a:endParaRPr/>
          </a:p>
        </p:txBody>
      </p:sp>
      <p:sp>
        <p:nvSpPr>
          <p:cNvPr id="189" name="Google Shape;189;p20"/>
          <p:cNvSpPr txBox="1"/>
          <p:nvPr/>
        </p:nvSpPr>
        <p:spPr>
          <a:xfrm>
            <a:off x="9189541" y="4514850"/>
            <a:ext cx="243066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A3A3A"/>
                </a:solidFill>
                <a:latin typeface="Lato"/>
                <a:ea typeface="Lato"/>
                <a:cs typeface="Lato"/>
                <a:sym typeface="Lato"/>
              </a:rPr>
              <a:t>Ouverture Hub Antsiranana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E8D1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4" name="Google Shape;19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1"/>
          <p:cNvSpPr txBox="1"/>
          <p:nvPr/>
        </p:nvSpPr>
        <p:spPr>
          <a:xfrm>
            <a:off x="571500" y="571500"/>
            <a:ext cx="11049000" cy="57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200" u="none" cap="none" strike="noStrike">
                <a:solidFill>
                  <a:srgbClr val="1A3A3A"/>
                </a:solidFill>
                <a:latin typeface="Lato"/>
                <a:ea typeface="Lato"/>
                <a:cs typeface="Lato"/>
                <a:sym typeface="Lato"/>
              </a:rPr>
              <a:t>— La Vision BIOZAR</a:t>
            </a:r>
            <a:endParaRPr/>
          </a:p>
        </p:txBody>
      </p:sp>
      <p:sp>
        <p:nvSpPr>
          <p:cNvPr id="196" name="Google Shape;196;p21"/>
          <p:cNvSpPr txBox="1"/>
          <p:nvPr/>
        </p:nvSpPr>
        <p:spPr>
          <a:xfrm>
            <a:off x="1333500" y="2405062"/>
            <a:ext cx="95250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3000" u="none" cap="none" strike="noStrike">
                <a:solidFill>
                  <a:srgbClr val="2D5A27"/>
                </a:solidFill>
                <a:latin typeface="Lato"/>
                <a:ea typeface="Lato"/>
                <a:cs typeface="Lato"/>
                <a:sym typeface="Lato"/>
              </a:rPr>
              <a:t> "Le futur de l'agrobusiness malgache n'est pas dans l'importation de chimie, mais dans la valorisation intelligente de notre écosystème par l'ingénierie bio." </a:t>
            </a:r>
            <a:endParaRPr/>
          </a:p>
        </p:txBody>
      </p:sp>
      <p:sp>
        <p:nvSpPr>
          <p:cNvPr id="197" name="Google Shape;197;p21"/>
          <p:cNvSpPr txBox="1"/>
          <p:nvPr/>
        </p:nvSpPr>
        <p:spPr>
          <a:xfrm>
            <a:off x="571500" y="4957762"/>
            <a:ext cx="110490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650" u="none" cap="none" strike="noStrike">
                <a:solidFill>
                  <a:srgbClr val="1A3A3A"/>
                </a:solidFill>
                <a:latin typeface="Lato"/>
                <a:ea typeface="Lato"/>
                <a:cs typeface="Lato"/>
                <a:sym typeface="Lato"/>
              </a:rPr>
              <a:t>— La Vision BIOZAR</a:t>
            </a:r>
            <a:endParaRPr/>
          </a:p>
        </p:txBody>
      </p:sp>
      <p:sp>
        <p:nvSpPr>
          <p:cNvPr id="198" name="Google Shape;198;p21"/>
          <p:cNvSpPr txBox="1"/>
          <p:nvPr/>
        </p:nvSpPr>
        <p:spPr>
          <a:xfrm>
            <a:off x="762000" y="1833562"/>
            <a:ext cx="4191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9000" u="none" cap="none" strike="noStrike">
                <a:solidFill>
                  <a:srgbClr val="2D5A27"/>
                </a:solidFill>
                <a:latin typeface="Lato"/>
                <a:ea typeface="Lato"/>
                <a:cs typeface="Lato"/>
                <a:sym typeface="Lato"/>
              </a:rPr>
              <a:t>“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3A3A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3" name="Google Shape;20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2"/>
          <p:cNvSpPr txBox="1"/>
          <p:nvPr/>
        </p:nvSpPr>
        <p:spPr>
          <a:xfrm>
            <a:off x="295275" y="1943100"/>
            <a:ext cx="116014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4E8D1"/>
                </a:solidFill>
                <a:latin typeface="Poppins"/>
                <a:ea typeface="Poppins"/>
                <a:cs typeface="Poppins"/>
                <a:sym typeface="Poppins"/>
              </a:rPr>
              <a:t>Investissons Ensemble</a:t>
            </a:r>
            <a:endParaRPr/>
          </a:p>
        </p:txBody>
      </p:sp>
      <p:sp>
        <p:nvSpPr>
          <p:cNvPr id="205" name="Google Shape;205;p22"/>
          <p:cNvSpPr txBox="1"/>
          <p:nvPr/>
        </p:nvSpPr>
        <p:spPr>
          <a:xfrm>
            <a:off x="571500" y="3371850"/>
            <a:ext cx="110490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Scalabilité • Rentabilité • Impact Local</a:t>
            </a:r>
            <a:endParaRPr/>
          </a:p>
        </p:txBody>
      </p:sp>
      <p:sp>
        <p:nvSpPr>
          <p:cNvPr id="206" name="Google Shape;206;p22"/>
          <p:cNvSpPr txBox="1"/>
          <p:nvPr/>
        </p:nvSpPr>
        <p:spPr>
          <a:xfrm>
            <a:off x="571500" y="4457700"/>
            <a:ext cx="11049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BIOZAR 2026 - Région DIANA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contact@biozar.mg | +261 34 XX XXX XX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E8D1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1" name="Google Shape;21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3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A3A3A"/>
                </a:solidFill>
                <a:latin typeface="Poppins"/>
                <a:ea typeface="Poppins"/>
                <a:cs typeface="Poppins"/>
                <a:sym typeface="Poppins"/>
              </a:rPr>
              <a:t>IMAGE SOURCES</a:t>
            </a:r>
            <a:endParaRPr/>
          </a:p>
        </p:txBody>
      </p:sp>
      <p:sp>
        <p:nvSpPr>
          <p:cNvPr id="213" name="Google Shape;213;p23"/>
          <p:cNvSpPr/>
          <p:nvPr/>
        </p:nvSpPr>
        <p:spPr>
          <a:xfrm>
            <a:off x="571500" y="3100387"/>
            <a:ext cx="11049000" cy="828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3"/>
          <p:cNvSpPr/>
          <p:nvPr/>
        </p:nvSpPr>
        <p:spPr>
          <a:xfrm>
            <a:off x="571500" y="391953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3"/>
          <p:cNvSpPr/>
          <p:nvPr/>
        </p:nvSpPr>
        <p:spPr>
          <a:xfrm>
            <a:off x="571500" y="391953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16" name="Google Shape;216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27183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3"/>
          <p:cNvSpPr txBox="1"/>
          <p:nvPr/>
        </p:nvSpPr>
        <p:spPr>
          <a:xfrm>
            <a:off x="1666875" y="3243262"/>
            <a:ext cx="99536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1A3A3A"/>
                </a:solidFill>
                <a:latin typeface="Lato"/>
                <a:ea typeface="Lato"/>
                <a:cs typeface="Lato"/>
                <a:sym typeface="Lato"/>
              </a:rPr>
              <a:t>https://cdn.faire.com/fastly/cc70d18912dd6404f07fe57b3f9c0a173c2ce0369840b98db66d2b01f470c7d6.png?bg-color=FFFFFF&amp;canvas=720:720&amp;dpr=1&amp;fit=bounds&amp;format=jpg&amp;height=720&amp;width=720</a:t>
            </a:r>
            <a:endParaRPr/>
          </a:p>
        </p:txBody>
      </p:sp>
      <p:sp>
        <p:nvSpPr>
          <p:cNvPr id="218" name="Google Shape;218;p23"/>
          <p:cNvSpPr txBox="1"/>
          <p:nvPr/>
        </p:nvSpPr>
        <p:spPr>
          <a:xfrm>
            <a:off x="1666875" y="3595687"/>
            <a:ext cx="995362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A3A3A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www.faire.com</a:t>
            </a:r>
            <a:endParaRPr/>
          </a:p>
        </p:txBody>
      </p:sp>
      <p:pic>
        <p:nvPicPr>
          <p:cNvPr descr="image.png" id="219" name="Google Shape;219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07193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3"/>
          <p:cNvSpPr txBox="1"/>
          <p:nvPr/>
        </p:nvSpPr>
        <p:spPr>
          <a:xfrm>
            <a:off x="1666875" y="4119562"/>
            <a:ext cx="995362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1A3A3A"/>
                </a:solidFill>
                <a:latin typeface="Lato"/>
                <a:ea typeface="Lato"/>
                <a:cs typeface="Lato"/>
                <a:sym typeface="Lato"/>
              </a:rPr>
              <a:t>https://cf.bstatic.com/xdata/images/hotel/max1024x768/826870216.jpg?k=2b43ff9bec6a1e9ed790331cfa40389f69a2856c78395ae239302b30a8e5390b&amp;o=</a:t>
            </a:r>
            <a:endParaRPr/>
          </a:p>
        </p:txBody>
      </p:sp>
      <p:sp>
        <p:nvSpPr>
          <p:cNvPr id="221" name="Google Shape;221;p23"/>
          <p:cNvSpPr txBox="1"/>
          <p:nvPr/>
        </p:nvSpPr>
        <p:spPr>
          <a:xfrm>
            <a:off x="1666875" y="4319587"/>
            <a:ext cx="995362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A3A3A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www.booking.com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